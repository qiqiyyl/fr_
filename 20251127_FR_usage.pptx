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51" r:id="rId1"/>
    <p:sldMasterId id="2147483653" r:id="rId2"/>
    <p:sldMasterId id="2147483676" r:id="rId3"/>
  </p:sldMasterIdLst>
  <p:notesMasterIdLst>
    <p:notesMasterId r:id="rId18"/>
  </p:notesMasterIdLst>
  <p:handoutMasterIdLst>
    <p:handoutMasterId r:id="rId19"/>
  </p:handoutMasterIdLst>
  <p:sldIdLst>
    <p:sldId id="1877" r:id="rId4"/>
    <p:sldId id="12280" r:id="rId5"/>
    <p:sldId id="12279" r:id="rId6"/>
    <p:sldId id="12286" r:id="rId7"/>
    <p:sldId id="12282" r:id="rId8"/>
    <p:sldId id="12283" r:id="rId9"/>
    <p:sldId id="12284" r:id="rId10"/>
    <p:sldId id="12281" r:id="rId11"/>
    <p:sldId id="12285" r:id="rId12"/>
    <p:sldId id="12276" r:id="rId13"/>
    <p:sldId id="12287" r:id="rId14"/>
    <p:sldId id="12288" r:id="rId15"/>
    <p:sldId id="9923" r:id="rId16"/>
    <p:sldId id="2455" r:id="rId17"/>
  </p:sldIdLst>
  <p:sldSz cx="9144000" cy="6858000" type="screen4x3"/>
  <p:notesSz cx="6669088" cy="9926638"/>
  <p:defaultTextStyle>
    <a:defPPr>
      <a:defRPr lang="zh-TW"/>
    </a:defPPr>
    <a:lvl1pPr algn="ctr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Arial Unicode MS" pitchFamily="34" charset="-120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Arial Unicode MS" pitchFamily="34" charset="-120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Arial Unicode MS" pitchFamily="34" charset="-120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Arial Unicode MS" pitchFamily="34" charset="-120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Arial Unicode MS" pitchFamily="34" charset="-120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Arial Unicode MS" pitchFamily="34" charset="-120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Arial Unicode MS" pitchFamily="34" charset="-120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Arial Unicode MS" pitchFamily="34" charset="-120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Arial Unicode MS" pitchFamily="34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900323" initials="" lastIdx="1" clrIdx="0"/>
  <p:cmAuthor id="2" name="Denis Tang(湯迪文)" initials="DT" lastIdx="1" clrIdx="1">
    <p:extLst>
      <p:ext uri="{19B8F6BF-5375-455C-9EA6-DF929625EA0E}">
        <p15:presenceInfo xmlns:p15="http://schemas.microsoft.com/office/powerpoint/2012/main" userId="S::denis_tang@himax.com.tw::6c79d009-d3c6-42dd-b397-af94edcc7f49" providerId="AD"/>
      </p:ext>
    </p:extLst>
  </p:cmAuthor>
  <p:cmAuthor id="3" name="DZ Kuo(郭達人)" initials="DK" lastIdx="7" clrIdx="2">
    <p:extLst>
      <p:ext uri="{19B8F6BF-5375-455C-9EA6-DF929625EA0E}">
        <p15:presenceInfo xmlns:p15="http://schemas.microsoft.com/office/powerpoint/2012/main" userId="S::dz_kuo@himax.com.tw::c06cfbf1-2ac0-4805-ba73-19b064de26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66FF"/>
    <a:srgbClr val="FFFFF0"/>
    <a:srgbClr val="000000"/>
    <a:srgbClr val="0E0254"/>
    <a:srgbClr val="F428EA"/>
    <a:srgbClr val="C0C0C0"/>
    <a:srgbClr val="FF7C80"/>
    <a:srgbClr val="CCCCFF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9" autoAdjust="0"/>
    <p:restoredTop sz="96353" autoAdjust="0"/>
  </p:normalViewPr>
  <p:slideViewPr>
    <p:cSldViewPr snapToGrid="0">
      <p:cViewPr varScale="1">
        <p:scale>
          <a:sx n="68" d="100"/>
          <a:sy n="68" d="100"/>
        </p:scale>
        <p:origin x="147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F378893-A93B-4615-9127-5017187634D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4" tIns="45675" rIns="91354" bIns="45675" numCol="1" anchor="t" anchorCtr="0" compatLnSpc="1">
            <a:prstTxWarp prst="textNoShape">
              <a:avLst/>
            </a:prstTxWarp>
          </a:bodyPr>
          <a:lstStyle>
            <a:lvl1pPr algn="l">
              <a:defRPr kumimoji="1" sz="1200" b="0"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8827141-5918-4EE9-926E-545C54CB2A6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4" tIns="45675" rIns="91354" bIns="45675" numCol="1" anchor="t" anchorCtr="0" compatLnSpc="1">
            <a:prstTxWarp prst="textNoShape">
              <a:avLst/>
            </a:prstTxWarp>
          </a:bodyPr>
          <a:lstStyle>
            <a:lvl1pPr algn="r">
              <a:defRPr kumimoji="1" sz="1200" b="0"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BB474E47-C5B3-49FF-854D-F2246A52F83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4" tIns="45675" rIns="91354" bIns="45675" numCol="1" anchor="b" anchorCtr="0" compatLnSpc="1">
            <a:prstTxWarp prst="textNoShape">
              <a:avLst/>
            </a:prstTxWarp>
          </a:bodyPr>
          <a:lstStyle>
            <a:lvl1pPr algn="l">
              <a:defRPr kumimoji="1" sz="1200" b="0"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3EAB310-EE84-45E2-B58B-F9894E9CECB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4" tIns="45675" rIns="91354" bIns="45675" numCol="1" anchor="b" anchorCtr="0" compatLnSpc="1">
            <a:prstTxWarp prst="textNoShape">
              <a:avLst/>
            </a:prstTxWarp>
          </a:bodyPr>
          <a:lstStyle>
            <a:lvl1pPr algn="r">
              <a:defRPr kumimoji="1" sz="1200" b="0"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fld id="{EF2D5CC6-D5F8-4DE2-87A5-98021D1363F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4D5D020-101C-440D-81A0-D16D91CF64C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4" tIns="45675" rIns="91354" bIns="45675" numCol="1" anchor="t" anchorCtr="0" compatLnSpc="1">
            <a:prstTxWarp prst="textNoShape">
              <a:avLst/>
            </a:prstTxWarp>
          </a:bodyPr>
          <a:lstStyle>
            <a:lvl1pPr algn="l">
              <a:defRPr kumimoji="1" sz="1200" b="0">
                <a:latin typeface="Tahoma" panose="020B060403050404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6B659FF-A1D3-45E6-A2C2-CB51A49F1A2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4" tIns="45675" rIns="91354" bIns="45675" numCol="1" anchor="t" anchorCtr="0" compatLnSpc="1">
            <a:prstTxWarp prst="textNoShape">
              <a:avLst/>
            </a:prstTxWarp>
          </a:bodyPr>
          <a:lstStyle>
            <a:lvl1pPr algn="r">
              <a:defRPr kumimoji="1" sz="1200" b="0">
                <a:latin typeface="Tahoma" panose="020B060403050404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3ADD498-28CB-4199-B1D3-747CC283990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4D66229-FA26-4511-A696-18B128275E0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7413" y="4714875"/>
            <a:ext cx="4894262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4" tIns="45675" rIns="91354" bIns="456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4726ABC-6BE7-4A96-93E0-4EF3C20C984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4" tIns="45675" rIns="91354" bIns="45675" numCol="1" anchor="b" anchorCtr="0" compatLnSpc="1">
            <a:prstTxWarp prst="textNoShape">
              <a:avLst/>
            </a:prstTxWarp>
          </a:bodyPr>
          <a:lstStyle>
            <a:lvl1pPr algn="l">
              <a:defRPr kumimoji="1" sz="1200" b="0">
                <a:latin typeface="Tahoma" panose="020B060403050404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7316497-237A-4EE2-9D3B-2BD39038C2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4" tIns="45675" rIns="91354" bIns="45675" numCol="1" anchor="b" anchorCtr="0" compatLnSpc="1">
            <a:prstTxWarp prst="textNoShape">
              <a:avLst/>
            </a:prstTxWarp>
          </a:bodyPr>
          <a:lstStyle>
            <a:lvl1pPr algn="r">
              <a:defRPr kumimoji="1" sz="1200" b="0">
                <a:latin typeface="Tahoma" panose="020B0604030504040204" pitchFamily="34" charset="0"/>
                <a:ea typeface="新細明體" panose="02020500000000000000" pitchFamily="18" charset="-120"/>
              </a:defRPr>
            </a:lvl1pPr>
          </a:lstStyle>
          <a:p>
            <a:fld id="{203567A5-121F-47CD-9143-463F05692C7D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A8BE4AE-9FD1-49A1-B967-FCDF72913B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B80075-1152-4A0C-90B5-0567D2534327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3156994" name="Rectangle 2">
            <a:extLst>
              <a:ext uri="{FF2B5EF4-FFF2-40B4-BE49-F238E27FC236}">
                <a16:creationId xmlns:a16="http://schemas.microsoft.com/office/drawing/2014/main" id="{A9EB309E-A9C2-4231-A12A-5256159F5E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41375" y="733425"/>
            <a:ext cx="4972050" cy="3729038"/>
          </a:xfrm>
          <a:ln/>
        </p:spPr>
      </p:sp>
      <p:sp>
        <p:nvSpPr>
          <p:cNvPr id="3156995" name="Rectangle 3">
            <a:extLst>
              <a:ext uri="{FF2B5EF4-FFF2-40B4-BE49-F238E27FC236}">
                <a16:creationId xmlns:a16="http://schemas.microsoft.com/office/drawing/2014/main" id="{8F64BCE0-2D82-4D24-89C5-0183481186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7413" y="4708525"/>
            <a:ext cx="4948237" cy="2635250"/>
          </a:xfrm>
        </p:spPr>
        <p:txBody>
          <a:bodyPr/>
          <a:lstStyle/>
          <a:p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1826" name="Rectangle 2">
            <a:extLst>
              <a:ext uri="{FF2B5EF4-FFF2-40B4-BE49-F238E27FC236}">
                <a16:creationId xmlns:a16="http://schemas.microsoft.com/office/drawing/2014/main" id="{3BB5786A-9467-442F-B9F4-78404C741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752600" cy="4876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GB" altLang="zh-TW" sz="2400" b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3021828" name="Rectangle 4">
            <a:extLst>
              <a:ext uri="{FF2B5EF4-FFF2-40B4-BE49-F238E27FC236}">
                <a16:creationId xmlns:a16="http://schemas.microsoft.com/office/drawing/2014/main" id="{EE6C872E-F1FB-4B0F-B1FB-E1A02076A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63750" y="4976813"/>
            <a:ext cx="1854200" cy="1447800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27432" anchor="ctr">
            <a:spAutoFit/>
          </a:bodyPr>
          <a:lstStyle/>
          <a:p>
            <a:endParaRPr lang="zh-TW" altLang="en-US"/>
          </a:p>
        </p:txBody>
      </p:sp>
      <p:sp>
        <p:nvSpPr>
          <p:cNvPr id="3021829" name="Rectangle 5">
            <a:extLst>
              <a:ext uri="{FF2B5EF4-FFF2-40B4-BE49-F238E27FC236}">
                <a16:creationId xmlns:a16="http://schemas.microsoft.com/office/drawing/2014/main" id="{FA02362F-FA81-4F43-8581-C04E0C188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33575" y="5135563"/>
            <a:ext cx="457200" cy="4572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0</a:t>
            </a:r>
          </a:p>
          <a:p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51</a:t>
            </a:r>
          </a:p>
          <a:p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102</a:t>
            </a:r>
          </a:p>
        </p:txBody>
      </p:sp>
      <p:sp>
        <p:nvSpPr>
          <p:cNvPr id="3021830" name="Rectangle 6">
            <a:extLst>
              <a:ext uri="{FF2B5EF4-FFF2-40B4-BE49-F238E27FC236}">
                <a16:creationId xmlns:a16="http://schemas.microsoft.com/office/drawing/2014/main" id="{6B58CB6B-5B70-4A0A-9A29-078B394C1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43025" y="3684588"/>
            <a:ext cx="457200" cy="457200"/>
          </a:xfrm>
          <a:prstGeom prst="rect">
            <a:avLst/>
          </a:prstGeom>
          <a:solidFill>
            <a:srgbClr val="1B65B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27</a:t>
            </a:r>
          </a:p>
          <a:p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101</a:t>
            </a:r>
          </a:p>
          <a:p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183</a:t>
            </a:r>
          </a:p>
        </p:txBody>
      </p:sp>
      <p:sp>
        <p:nvSpPr>
          <p:cNvPr id="3021831" name="Rectangle 7">
            <a:extLst>
              <a:ext uri="{FF2B5EF4-FFF2-40B4-BE49-F238E27FC236}">
                <a16:creationId xmlns:a16="http://schemas.microsoft.com/office/drawing/2014/main" id="{053E5C82-8158-4DBE-931B-BF380334D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82638" y="5135563"/>
            <a:ext cx="457200" cy="457200"/>
          </a:xfrm>
          <a:prstGeom prst="rect">
            <a:avLst/>
          </a:prstGeom>
          <a:solidFill>
            <a:srgbClr val="FFCB6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TW" sz="1000" b="0">
                <a:cs typeface="Arial" panose="020B0604020202020204" pitchFamily="34" charset="0"/>
              </a:rPr>
              <a:t>255</a:t>
            </a:r>
          </a:p>
          <a:p>
            <a:r>
              <a:rPr lang="en-US" altLang="zh-TW" sz="1000" b="0">
                <a:cs typeface="Arial" panose="020B0604020202020204" pitchFamily="34" charset="0"/>
              </a:rPr>
              <a:t>203</a:t>
            </a:r>
          </a:p>
          <a:p>
            <a:r>
              <a:rPr lang="en-US" altLang="zh-TW" sz="1000" b="0">
                <a:cs typeface="Arial" panose="020B0604020202020204" pitchFamily="34" charset="0"/>
              </a:rPr>
              <a:t>109</a:t>
            </a:r>
          </a:p>
        </p:txBody>
      </p:sp>
      <p:sp>
        <p:nvSpPr>
          <p:cNvPr id="3021832" name="Rectangle 8">
            <a:extLst>
              <a:ext uri="{FF2B5EF4-FFF2-40B4-BE49-F238E27FC236}">
                <a16:creationId xmlns:a16="http://schemas.microsoft.com/office/drawing/2014/main" id="{8936879F-CE63-494A-8B6E-BC4BA0CC5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33575" y="5821363"/>
            <a:ext cx="457200" cy="457200"/>
          </a:xfrm>
          <a:prstGeom prst="rect">
            <a:avLst/>
          </a:prstGeom>
          <a:solidFill>
            <a:srgbClr val="CC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TW" sz="1000" b="0">
                <a:cs typeface="Arial" panose="020B0604020202020204" pitchFamily="34" charset="0"/>
              </a:rPr>
              <a:t>204</a:t>
            </a:r>
          </a:p>
          <a:p>
            <a:r>
              <a:rPr lang="en-US" altLang="zh-TW" sz="1000" b="0">
                <a:cs typeface="Arial" panose="020B0604020202020204" pitchFamily="34" charset="0"/>
              </a:rPr>
              <a:t>204</a:t>
            </a:r>
          </a:p>
          <a:p>
            <a:r>
              <a:rPr lang="en-US" altLang="zh-TW" sz="1000" b="0">
                <a:cs typeface="Arial" panose="020B0604020202020204" pitchFamily="34" charset="0"/>
              </a:rPr>
              <a:t>153</a:t>
            </a:r>
          </a:p>
        </p:txBody>
      </p:sp>
      <p:sp>
        <p:nvSpPr>
          <p:cNvPr id="3021833" name="Rectangle 9">
            <a:extLst>
              <a:ext uri="{FF2B5EF4-FFF2-40B4-BE49-F238E27FC236}">
                <a16:creationId xmlns:a16="http://schemas.microsoft.com/office/drawing/2014/main" id="{23E2C6C1-F6E0-4B27-B1B9-7192D7928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58900" y="5821363"/>
            <a:ext cx="457200" cy="457200"/>
          </a:xfrm>
          <a:prstGeom prst="rect">
            <a:avLst/>
          </a:prstGeom>
          <a:solidFill>
            <a:srgbClr val="E90919">
              <a:alpha val="60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000" b="0">
                <a:cs typeface="Arial" panose="020B0604020202020204" pitchFamily="34" charset="0"/>
              </a:rPr>
              <a:t>233</a:t>
            </a:r>
          </a:p>
          <a:p>
            <a:r>
              <a:rPr lang="en-US" altLang="zh-CN" sz="1000" b="0">
                <a:cs typeface="Arial" panose="020B0604020202020204" pitchFamily="34" charset="0"/>
              </a:rPr>
              <a:t>9</a:t>
            </a:r>
          </a:p>
          <a:p>
            <a:r>
              <a:rPr lang="en-US" altLang="zh-CN" sz="1000" b="0">
                <a:cs typeface="Arial" panose="020B0604020202020204" pitchFamily="34" charset="0"/>
              </a:rPr>
              <a:t>25</a:t>
            </a:r>
            <a:endParaRPr lang="en-US" altLang="zh-TW" sz="1000" b="0"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021834" name="Rectangle 10">
            <a:extLst>
              <a:ext uri="{FF2B5EF4-FFF2-40B4-BE49-F238E27FC236}">
                <a16:creationId xmlns:a16="http://schemas.microsoft.com/office/drawing/2014/main" id="{5E6C815E-DCE7-4C65-A97C-48B4BBA55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82638" y="5821363"/>
            <a:ext cx="457200" cy="457200"/>
          </a:xfrm>
          <a:prstGeom prst="rect">
            <a:avLst/>
          </a:prstGeom>
          <a:solidFill>
            <a:srgbClr val="78828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TW" sz="1000" b="0">
                <a:cs typeface="Arial" panose="020B0604020202020204" pitchFamily="34" charset="0"/>
              </a:rPr>
              <a:t>120</a:t>
            </a:r>
          </a:p>
          <a:p>
            <a:r>
              <a:rPr lang="en-US" altLang="zh-TW" sz="1000" b="0">
                <a:cs typeface="Arial" panose="020B0604020202020204" pitchFamily="34" charset="0"/>
              </a:rPr>
              <a:t>130</a:t>
            </a:r>
          </a:p>
          <a:p>
            <a:r>
              <a:rPr lang="en-US" altLang="zh-TW" sz="1000" b="0">
                <a:cs typeface="Arial" panose="020B0604020202020204" pitchFamily="34" charset="0"/>
              </a:rPr>
              <a:t>130</a:t>
            </a:r>
          </a:p>
        </p:txBody>
      </p:sp>
      <p:sp>
        <p:nvSpPr>
          <p:cNvPr id="3021835" name="Rectangle 11">
            <a:extLst>
              <a:ext uri="{FF2B5EF4-FFF2-40B4-BE49-F238E27FC236}">
                <a16:creationId xmlns:a16="http://schemas.microsoft.com/office/drawing/2014/main" id="{86E5A9A6-14FC-47BB-A5D1-F6F94DB4F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58900" y="5135563"/>
            <a:ext cx="457200" cy="457200"/>
          </a:xfrm>
          <a:prstGeom prst="rect">
            <a:avLst/>
          </a:prstGeom>
          <a:solidFill>
            <a:srgbClr val="86D3E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TW" sz="1000" b="0">
                <a:cs typeface="Arial" panose="020B0604020202020204" pitchFamily="34" charset="0"/>
              </a:rPr>
              <a:t>134</a:t>
            </a:r>
          </a:p>
          <a:p>
            <a:r>
              <a:rPr lang="en-US" altLang="zh-TW" sz="1000" b="0">
                <a:cs typeface="Arial" panose="020B0604020202020204" pitchFamily="34" charset="0"/>
              </a:rPr>
              <a:t>211</a:t>
            </a:r>
          </a:p>
          <a:p>
            <a:r>
              <a:rPr lang="en-US" altLang="zh-TW" sz="1000" b="0">
                <a:cs typeface="Arial" panose="020B0604020202020204" pitchFamily="34" charset="0"/>
              </a:rPr>
              <a:t>226</a:t>
            </a:r>
          </a:p>
        </p:txBody>
      </p:sp>
      <p:sp>
        <p:nvSpPr>
          <p:cNvPr id="3021842" name="Line 18">
            <a:extLst>
              <a:ext uri="{FF2B5EF4-FFF2-40B4-BE49-F238E27FC236}">
                <a16:creationId xmlns:a16="http://schemas.microsoft.com/office/drawing/2014/main" id="{D05CDA1A-D2BC-4BE4-9971-B4FFDE43F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5000" y="660400"/>
            <a:ext cx="4533900" cy="254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21843" name="Line 19">
            <a:extLst>
              <a:ext uri="{FF2B5EF4-FFF2-40B4-BE49-F238E27FC236}">
                <a16:creationId xmlns:a16="http://schemas.microsoft.com/office/drawing/2014/main" id="{EB928C1A-804E-4DA7-82F7-C55161508B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32800" y="660400"/>
            <a:ext cx="469900" cy="127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21844" name="Text Box 20">
            <a:extLst>
              <a:ext uri="{FF2B5EF4-FFF2-40B4-BE49-F238E27FC236}">
                <a16:creationId xmlns:a16="http://schemas.microsoft.com/office/drawing/2014/main" id="{E1FC3C2F-876E-4813-A286-84D3E8348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3038" y="438150"/>
            <a:ext cx="3065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33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2400" b="0">
                <a:cs typeface="Arial" panose="020B0604020202020204" pitchFamily="34" charset="0"/>
              </a:rPr>
              <a:t>Drive for better vision</a:t>
            </a:r>
          </a:p>
        </p:txBody>
      </p:sp>
      <p:pic>
        <p:nvPicPr>
          <p:cNvPr id="3021848" name="Picture 24" descr="LOGO-8">
            <a:extLst>
              <a:ext uri="{FF2B5EF4-FFF2-40B4-BE49-F238E27FC236}">
                <a16:creationId xmlns:a16="http://schemas.microsoft.com/office/drawing/2014/main" id="{6F7AC11C-CFDF-4C96-B7F6-861D3BA258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1662113"/>
            <a:ext cx="2011363" cy="63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21860" name="Group 36">
            <a:extLst>
              <a:ext uri="{FF2B5EF4-FFF2-40B4-BE49-F238E27FC236}">
                <a16:creationId xmlns:a16="http://schemas.microsoft.com/office/drawing/2014/main" id="{ACDCFE8A-E149-4720-BA58-4CC1FFEDB22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149975" y="5824538"/>
            <a:ext cx="2379663" cy="565150"/>
            <a:chOff x="592" y="1676"/>
            <a:chExt cx="1499" cy="356"/>
          </a:xfrm>
        </p:grpSpPr>
        <p:sp>
          <p:nvSpPr>
            <p:cNvPr id="3021861" name="Text Box 37">
              <a:extLst>
                <a:ext uri="{FF2B5EF4-FFF2-40B4-BE49-F238E27FC236}">
                  <a16:creationId xmlns:a16="http://schemas.microsoft.com/office/drawing/2014/main" id="{697E4BD2-58FE-4F12-B8E1-411560FE0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" y="1676"/>
              <a:ext cx="1499" cy="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dist"/>
              <a:r>
                <a:rPr lang="en-US" altLang="zh-TW" sz="1500" b="0">
                  <a:cs typeface="Arial" panose="020B0604020202020204" pitchFamily="34" charset="0"/>
                </a:rPr>
                <a:t>Himax Technologies, Inc.</a:t>
              </a:r>
            </a:p>
            <a:p>
              <a:pPr algn="dist"/>
              <a:r>
                <a:rPr lang="zh-TW" altLang="en-US" sz="1600" b="0">
                  <a:ea typeface="華康中黑體(P)-UN" pitchFamily="34" charset="-120"/>
                  <a:cs typeface="Arial" panose="020B0604020202020204" pitchFamily="34" charset="0"/>
                </a:rPr>
                <a:t>奇景光電股份有限公司</a:t>
              </a:r>
            </a:p>
          </p:txBody>
        </p:sp>
        <p:sp>
          <p:nvSpPr>
            <p:cNvPr id="3021862" name="Line 38">
              <a:extLst>
                <a:ext uri="{FF2B5EF4-FFF2-40B4-BE49-F238E27FC236}">
                  <a16:creationId xmlns:a16="http://schemas.microsoft.com/office/drawing/2014/main" id="{2F004BE9-2AFB-4258-841A-E03930957E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" y="1856"/>
              <a:ext cx="1347" cy="0"/>
            </a:xfrm>
            <a:prstGeom prst="line">
              <a:avLst/>
            </a:prstGeom>
            <a:noFill/>
            <a:ln w="6350">
              <a:solidFill>
                <a:srgbClr val="0033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B29873-24B4-4E62-945C-53D4E269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B29884-6734-4CA7-A944-65E66E745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71A281-C253-4757-A826-C7D07A719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4B18A12-519B-49DA-9632-7336727FEAA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83688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259974-27B8-4B9F-B8EC-2A363E602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441DBD-132C-4173-B7AB-E904E161E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3ED530D-8734-4F5B-867C-4051E1BCAB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EFC0619-B5C7-49C5-9CDE-CA80DC940D1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82204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771917-F4A2-478C-8EEF-CFD1910D8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16BDC1-B074-4181-B76D-1E3B78C14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3550" y="1338263"/>
            <a:ext cx="4064000" cy="50085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0A93910-4A5A-4442-AA3A-1828A3286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9950" y="1338263"/>
            <a:ext cx="4064000" cy="50085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5A48C2F-84AC-4AAE-8D24-068CA550A3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B773861-B5EE-4FDC-A086-67CD249CDA8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5829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E9133-ABBE-409E-8BA7-1FBA1A58A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D9177EF-CED1-48E7-9380-8DE1BC4F6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DE9CDD6-326A-42A8-BC44-AF550F8C6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6B453D1-6E9D-484B-B5EC-FB45B940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4740BE0-7C65-48B5-9327-6C40191DC3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9E265D0-AC5C-4754-A5CB-7274436B5F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76CA6C-35C9-4F0E-BD0A-F8F3E52999A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8643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0456F2-4B17-4E89-AD60-A633BD013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44DAB1D-FEFF-401A-ADCF-1DDA18588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39DEAC9-F8B1-4DA1-AC5E-EF4F3E58E72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1631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0A3A5C0-A758-47A3-9C14-D5CBCB714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9E89112-DA9A-4E12-93A5-7A9932CB9D1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8980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6F0767-B8E0-4056-A5AF-97ECAB22C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4A40A6-5E63-4960-BDA9-BA3DE2DCD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4C965D9-6D23-4A7F-9958-875EB6C8B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96B0F8-DF6E-4A7E-AD62-8FE039C88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F374E5-B34E-45CA-9459-A327FE9A1A2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69102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E3F2D9-5F00-4BFD-AD72-319C07BE3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D87E799-02F2-46A4-8686-F7D8B366E7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76C84F-57E2-4360-A9AA-1489BF4A8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384ACF5-9435-48C4-A556-CC9A9A474F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B48F64B-4111-47CF-96E1-C23745BCA25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2532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2CEA6-96A2-4228-B37E-786B7E50A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4BA1C44-17A7-4ABB-9B39-223D70FA6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7AA524-B581-4C74-AF61-6B58819458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D2D5033-8BCF-4ADC-B6AB-20B627E3F3F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67570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D6AA8DE-0E21-4E09-A3D4-12841A3B55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72263" y="152400"/>
            <a:ext cx="2071687" cy="61944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4B44AC9-1C47-4E58-AA73-B54504A99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62663" cy="61944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6D14CB-9B2D-4300-B91D-A9C94EE090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8413B39-052C-4811-8AEE-DC35BFB9CA5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74899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2009Q12 IIC white background.0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AEFE4-934E-4DD2-AAFA-D25429731899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11977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FB8DC9-0A0F-42AA-B7C2-82A50BDC4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A280B17-A31E-4E1F-A616-C7EF3BC43A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</p:spTree>
    <p:extLst>
      <p:ext uri="{BB962C8B-B14F-4D97-AF65-F5344CB8AC3E}">
        <p14:creationId xmlns:p14="http://schemas.microsoft.com/office/powerpoint/2010/main" val="809631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C6748D-8EF1-4DFD-A094-EE6B0792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9DD018-23FE-468F-A768-72D494313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8063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A0E168-6CCA-43F4-999A-56A592280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9FBA942-BFDB-4C44-8A4E-F6A4DD19E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108818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C0910D-5B9B-4CD2-AF57-E6B905543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78D647-FD10-4A26-8D6B-41095FEF1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6FA6919-E3B5-48A1-A841-E73CB11E9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556355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A55E10-1F33-4A13-8C5A-D13A7301B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7BA046-095A-4ACF-8CDD-013386571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9D787C2-6E6D-4204-9ACA-3234A1622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0F39865-31BD-4C16-BD38-BC607B54D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C2E21FA-4D80-4D4A-82DA-38FE9DB56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8553687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E7F8F9-2F8A-4FED-9928-F94EF6E9F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970567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11649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A40132-91E7-404B-A11B-80868C354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B380B4-6E11-4382-BC03-9D9F89431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CD1BCA-7981-4DCC-B1CD-DD6F192D3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870356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D63EA2-107E-4CF3-94EC-132162B1E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3671644-FFD6-46B4-8FA3-606AB5F03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1FEBA4E-F7CC-42BA-AFAB-9CAE7A4C2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475898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363ACC-BF56-4B81-BFBA-D6C09AF68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C356D8A-3CB1-4CC4-B4E8-4D65354C4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2023686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63756C6-E043-413E-962E-35EB8BEFCD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069E5EA-211D-4552-85EF-2F56EA48F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2562803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752600" cy="4876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en-GB" sz="1741" b="0" dirty="0">
              <a:latin typeface="Times New Roman" pitchFamily="18" charset="0"/>
              <a:ea typeface="新細明體" pitchFamily="18" charset="-120"/>
            </a:endParaRPr>
          </a:p>
        </p:txBody>
      </p:sp>
      <p:pic>
        <p:nvPicPr>
          <p:cNvPr id="5" name="Picture 15" descr="LOGO-8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38426" y="1757363"/>
            <a:ext cx="3114675" cy="98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Line 18"/>
          <p:cNvSpPr>
            <a:spLocks noChangeShapeType="1"/>
          </p:cNvSpPr>
          <p:nvPr/>
        </p:nvSpPr>
        <p:spPr bwMode="auto">
          <a:xfrm flipV="1">
            <a:off x="635000" y="660400"/>
            <a:ext cx="4533900" cy="254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en-US" sz="2032"/>
          </a:p>
        </p:txBody>
      </p:sp>
      <p:sp>
        <p:nvSpPr>
          <p:cNvPr id="7" name="Line 19"/>
          <p:cNvSpPr>
            <a:spLocks noChangeShapeType="1"/>
          </p:cNvSpPr>
          <p:nvPr/>
        </p:nvSpPr>
        <p:spPr bwMode="auto">
          <a:xfrm flipV="1">
            <a:off x="8432800" y="660400"/>
            <a:ext cx="469900" cy="127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en-US" sz="2032"/>
          </a:p>
        </p:txBody>
      </p:sp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5639462" y="438151"/>
            <a:ext cx="2292615" cy="36022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1741" b="0" dirty="0">
                <a:cs typeface="Arial" charset="0"/>
              </a:rPr>
              <a:t>Drive for better vision</a:t>
            </a:r>
          </a:p>
        </p:txBody>
      </p:sp>
      <p:sp>
        <p:nvSpPr>
          <p:cNvPr id="302184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2130426" y="2790827"/>
            <a:ext cx="6797675" cy="1217613"/>
          </a:xfrm>
        </p:spPr>
        <p:txBody>
          <a:bodyPr/>
          <a:lstStyle>
            <a:lvl1pPr>
              <a:defRPr sz="2902">
                <a:solidFill>
                  <a:srgbClr val="00336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02184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132013" y="4191002"/>
            <a:ext cx="6792912" cy="93186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306">
                <a:ea typeface="Arial Unicode MS" pitchFamily="34" charset="-120"/>
              </a:defRPr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2738817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CE6D4-5A14-4610-B98C-88AAAAC8ED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63266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2902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51"/>
            </a:lvl1pPr>
            <a:lvl2pPr marL="331744" indent="0">
              <a:buNone/>
              <a:defRPr sz="1306"/>
            </a:lvl2pPr>
            <a:lvl3pPr marL="663489" indent="0">
              <a:buNone/>
              <a:defRPr sz="1161"/>
            </a:lvl3pPr>
            <a:lvl4pPr marL="995233" indent="0">
              <a:buNone/>
              <a:defRPr sz="1016"/>
            </a:lvl4pPr>
            <a:lvl5pPr marL="1326977" indent="0">
              <a:buNone/>
              <a:defRPr sz="1016"/>
            </a:lvl5pPr>
            <a:lvl6pPr marL="1658722" indent="0">
              <a:buNone/>
              <a:defRPr sz="1016"/>
            </a:lvl6pPr>
            <a:lvl7pPr marL="1990466" indent="0">
              <a:buNone/>
              <a:defRPr sz="1016"/>
            </a:lvl7pPr>
            <a:lvl8pPr marL="2322210" indent="0">
              <a:buNone/>
              <a:defRPr sz="1016"/>
            </a:lvl8pPr>
            <a:lvl9pPr marL="2653955" indent="0">
              <a:buNone/>
              <a:defRPr sz="1016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CE6D4-5A14-4610-B98C-88AAAAC8ED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71126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38113" y="1103313"/>
            <a:ext cx="4354512" cy="5307012"/>
          </a:xfrm>
        </p:spPr>
        <p:txBody>
          <a:bodyPr/>
          <a:lstStyle>
            <a:lvl1pPr>
              <a:defRPr sz="2032"/>
            </a:lvl1pPr>
            <a:lvl2pPr>
              <a:defRPr sz="1741"/>
            </a:lvl2pPr>
            <a:lvl3pPr>
              <a:defRPr sz="1451"/>
            </a:lvl3pPr>
            <a:lvl4pPr>
              <a:defRPr sz="1306"/>
            </a:lvl4pPr>
            <a:lvl5pPr>
              <a:defRPr sz="1306"/>
            </a:lvl5pPr>
            <a:lvl6pPr>
              <a:defRPr sz="1306"/>
            </a:lvl6pPr>
            <a:lvl7pPr>
              <a:defRPr sz="1306"/>
            </a:lvl7pPr>
            <a:lvl8pPr>
              <a:defRPr sz="1306"/>
            </a:lvl8pPr>
            <a:lvl9pPr>
              <a:defRPr sz="1306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5026" y="1103313"/>
            <a:ext cx="4354513" cy="5307012"/>
          </a:xfrm>
        </p:spPr>
        <p:txBody>
          <a:bodyPr/>
          <a:lstStyle>
            <a:lvl1pPr>
              <a:defRPr sz="2032"/>
            </a:lvl1pPr>
            <a:lvl2pPr>
              <a:defRPr sz="1741"/>
            </a:lvl2pPr>
            <a:lvl3pPr>
              <a:defRPr sz="1451"/>
            </a:lvl3pPr>
            <a:lvl4pPr>
              <a:defRPr sz="1306"/>
            </a:lvl4pPr>
            <a:lvl5pPr>
              <a:defRPr sz="1306"/>
            </a:lvl5pPr>
            <a:lvl6pPr>
              <a:defRPr sz="1306"/>
            </a:lvl6pPr>
            <a:lvl7pPr>
              <a:defRPr sz="1306"/>
            </a:lvl7pPr>
            <a:lvl8pPr>
              <a:defRPr sz="1306"/>
            </a:lvl8pPr>
            <a:lvl9pPr>
              <a:defRPr sz="1306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CE6D4-5A14-4610-B98C-88AAAAC8ED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64065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741" b="1"/>
            </a:lvl1pPr>
            <a:lvl2pPr marL="331744" indent="0">
              <a:buNone/>
              <a:defRPr sz="1451" b="1"/>
            </a:lvl2pPr>
            <a:lvl3pPr marL="663489" indent="0">
              <a:buNone/>
              <a:defRPr sz="1306" b="1"/>
            </a:lvl3pPr>
            <a:lvl4pPr marL="995233" indent="0">
              <a:buNone/>
              <a:defRPr sz="1161" b="1"/>
            </a:lvl4pPr>
            <a:lvl5pPr marL="1326977" indent="0">
              <a:buNone/>
              <a:defRPr sz="1161" b="1"/>
            </a:lvl5pPr>
            <a:lvl6pPr marL="1658722" indent="0">
              <a:buNone/>
              <a:defRPr sz="1161" b="1"/>
            </a:lvl6pPr>
            <a:lvl7pPr marL="1990466" indent="0">
              <a:buNone/>
              <a:defRPr sz="1161" b="1"/>
            </a:lvl7pPr>
            <a:lvl8pPr marL="2322210" indent="0">
              <a:buNone/>
              <a:defRPr sz="1161" b="1"/>
            </a:lvl8pPr>
            <a:lvl9pPr marL="2653955" indent="0">
              <a:buNone/>
              <a:defRPr sz="1161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41"/>
            </a:lvl1pPr>
            <a:lvl2pPr>
              <a:defRPr sz="1451"/>
            </a:lvl2pPr>
            <a:lvl3pPr>
              <a:defRPr sz="1306"/>
            </a:lvl3pPr>
            <a:lvl4pPr>
              <a:defRPr sz="1161"/>
            </a:lvl4pPr>
            <a:lvl5pPr>
              <a:defRPr sz="1161"/>
            </a:lvl5pPr>
            <a:lvl6pPr>
              <a:defRPr sz="1161"/>
            </a:lvl6pPr>
            <a:lvl7pPr>
              <a:defRPr sz="1161"/>
            </a:lvl7pPr>
            <a:lvl8pPr>
              <a:defRPr sz="1161"/>
            </a:lvl8pPr>
            <a:lvl9pPr>
              <a:defRPr sz="1161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741" b="1"/>
            </a:lvl1pPr>
            <a:lvl2pPr marL="331744" indent="0">
              <a:buNone/>
              <a:defRPr sz="1451" b="1"/>
            </a:lvl2pPr>
            <a:lvl3pPr marL="663489" indent="0">
              <a:buNone/>
              <a:defRPr sz="1306" b="1"/>
            </a:lvl3pPr>
            <a:lvl4pPr marL="995233" indent="0">
              <a:buNone/>
              <a:defRPr sz="1161" b="1"/>
            </a:lvl4pPr>
            <a:lvl5pPr marL="1326977" indent="0">
              <a:buNone/>
              <a:defRPr sz="1161" b="1"/>
            </a:lvl5pPr>
            <a:lvl6pPr marL="1658722" indent="0">
              <a:buNone/>
              <a:defRPr sz="1161" b="1"/>
            </a:lvl6pPr>
            <a:lvl7pPr marL="1990466" indent="0">
              <a:buNone/>
              <a:defRPr sz="1161" b="1"/>
            </a:lvl7pPr>
            <a:lvl8pPr marL="2322210" indent="0">
              <a:buNone/>
              <a:defRPr sz="1161" b="1"/>
            </a:lvl8pPr>
            <a:lvl9pPr marL="2653955" indent="0">
              <a:buNone/>
              <a:defRPr sz="1161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741"/>
            </a:lvl1pPr>
            <a:lvl2pPr>
              <a:defRPr sz="1451"/>
            </a:lvl2pPr>
            <a:lvl3pPr>
              <a:defRPr sz="1306"/>
            </a:lvl3pPr>
            <a:lvl4pPr>
              <a:defRPr sz="1161"/>
            </a:lvl4pPr>
            <a:lvl5pPr>
              <a:defRPr sz="1161"/>
            </a:lvl5pPr>
            <a:lvl6pPr>
              <a:defRPr sz="1161"/>
            </a:lvl6pPr>
            <a:lvl7pPr>
              <a:defRPr sz="1161"/>
            </a:lvl7pPr>
            <a:lvl8pPr>
              <a:defRPr sz="1161"/>
            </a:lvl8pPr>
            <a:lvl9pPr>
              <a:defRPr sz="1161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CE6D4-5A14-4610-B98C-88AAAAC8ED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88694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CE6D4-5A14-4610-B98C-88AAAAC8ED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76001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CE6D4-5A14-4610-B98C-88AAAAC8ED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28447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451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322"/>
            </a:lvl1pPr>
            <a:lvl2pPr>
              <a:defRPr sz="2032"/>
            </a:lvl2pPr>
            <a:lvl3pPr>
              <a:defRPr sz="1741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16"/>
            </a:lvl1pPr>
            <a:lvl2pPr marL="331744" indent="0">
              <a:buNone/>
              <a:defRPr sz="871"/>
            </a:lvl2pPr>
            <a:lvl3pPr marL="663489" indent="0">
              <a:buNone/>
              <a:defRPr sz="726"/>
            </a:lvl3pPr>
            <a:lvl4pPr marL="995233" indent="0">
              <a:buNone/>
              <a:defRPr sz="653"/>
            </a:lvl4pPr>
            <a:lvl5pPr marL="1326977" indent="0">
              <a:buNone/>
              <a:defRPr sz="653"/>
            </a:lvl5pPr>
            <a:lvl6pPr marL="1658722" indent="0">
              <a:buNone/>
              <a:defRPr sz="653"/>
            </a:lvl6pPr>
            <a:lvl7pPr marL="1990466" indent="0">
              <a:buNone/>
              <a:defRPr sz="653"/>
            </a:lvl7pPr>
            <a:lvl8pPr marL="2322210" indent="0">
              <a:buNone/>
              <a:defRPr sz="653"/>
            </a:lvl8pPr>
            <a:lvl9pPr marL="2653955" indent="0">
              <a:buNone/>
              <a:defRPr sz="65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CE6D4-5A14-4610-B98C-88AAAAC8ED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67857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451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322"/>
            </a:lvl1pPr>
            <a:lvl2pPr marL="331744" indent="0">
              <a:buNone/>
              <a:defRPr sz="2032"/>
            </a:lvl2pPr>
            <a:lvl3pPr marL="663489" indent="0">
              <a:buNone/>
              <a:defRPr sz="1741"/>
            </a:lvl3pPr>
            <a:lvl4pPr marL="995233" indent="0">
              <a:buNone/>
              <a:defRPr sz="1451"/>
            </a:lvl4pPr>
            <a:lvl5pPr marL="1326977" indent="0">
              <a:buNone/>
              <a:defRPr sz="1451"/>
            </a:lvl5pPr>
            <a:lvl6pPr marL="1658722" indent="0">
              <a:buNone/>
              <a:defRPr sz="1451"/>
            </a:lvl6pPr>
            <a:lvl7pPr marL="1990466" indent="0">
              <a:buNone/>
              <a:defRPr sz="1451"/>
            </a:lvl7pPr>
            <a:lvl8pPr marL="2322210" indent="0">
              <a:buNone/>
              <a:defRPr sz="1451"/>
            </a:lvl8pPr>
            <a:lvl9pPr marL="2653955" indent="0">
              <a:buNone/>
              <a:defRPr sz="1451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16"/>
            </a:lvl1pPr>
            <a:lvl2pPr marL="331744" indent="0">
              <a:buNone/>
              <a:defRPr sz="871"/>
            </a:lvl2pPr>
            <a:lvl3pPr marL="663489" indent="0">
              <a:buNone/>
              <a:defRPr sz="726"/>
            </a:lvl3pPr>
            <a:lvl4pPr marL="995233" indent="0">
              <a:buNone/>
              <a:defRPr sz="653"/>
            </a:lvl4pPr>
            <a:lvl5pPr marL="1326977" indent="0">
              <a:buNone/>
              <a:defRPr sz="653"/>
            </a:lvl5pPr>
            <a:lvl6pPr marL="1658722" indent="0">
              <a:buNone/>
              <a:defRPr sz="653"/>
            </a:lvl6pPr>
            <a:lvl7pPr marL="1990466" indent="0">
              <a:buNone/>
              <a:defRPr sz="653"/>
            </a:lvl7pPr>
            <a:lvl8pPr marL="2322210" indent="0">
              <a:buNone/>
              <a:defRPr sz="653"/>
            </a:lvl8pPr>
            <a:lvl9pPr marL="2653955" indent="0">
              <a:buNone/>
              <a:defRPr sz="65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CE6D4-5A14-4610-B98C-88AAAAC8ED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17031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CE6D4-5A14-4610-B98C-88AAAAC8ED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52479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4976" y="152402"/>
            <a:ext cx="2214563" cy="62579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38113" y="152402"/>
            <a:ext cx="6494462" cy="62579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CE6D4-5A14-4610-B98C-88AAAAC8ED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12279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3514" y="152400"/>
            <a:ext cx="8816975" cy="6921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138114" y="1103313"/>
            <a:ext cx="8861425" cy="5307012"/>
          </a:xfrm>
        </p:spPr>
        <p:txBody>
          <a:bodyPr/>
          <a:lstStyle/>
          <a:p>
            <a:pPr lvl="0"/>
            <a:r>
              <a:rPr lang="zh-TW" altLang="en-US" noProof="0"/>
              <a:t>按一下圖示以新增表格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CE6D4-5A14-4610-B98C-88AAAAC8ED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54411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1848" name="Picture 24" descr="LOGO-8">
            <a:extLst>
              <a:ext uri="{FF2B5EF4-FFF2-40B4-BE49-F238E27FC236}">
                <a16:creationId xmlns:a16="http://schemas.microsoft.com/office/drawing/2014/main" id="{6F7AC11C-CFDF-4C96-B7F6-861D3BA258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1662113"/>
            <a:ext cx="2011363" cy="63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21860" name="Group 36">
            <a:extLst>
              <a:ext uri="{FF2B5EF4-FFF2-40B4-BE49-F238E27FC236}">
                <a16:creationId xmlns:a16="http://schemas.microsoft.com/office/drawing/2014/main" id="{ACDCFE8A-E149-4720-BA58-4CC1FFEDB22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149975" y="5824538"/>
            <a:ext cx="2379663" cy="565150"/>
            <a:chOff x="592" y="1676"/>
            <a:chExt cx="1499" cy="356"/>
          </a:xfrm>
        </p:grpSpPr>
        <p:sp>
          <p:nvSpPr>
            <p:cNvPr id="3021861" name="Text Box 37">
              <a:extLst>
                <a:ext uri="{FF2B5EF4-FFF2-40B4-BE49-F238E27FC236}">
                  <a16:creationId xmlns:a16="http://schemas.microsoft.com/office/drawing/2014/main" id="{697E4BD2-58FE-4F12-B8E1-411560FE0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" y="1676"/>
              <a:ext cx="1499" cy="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dist"/>
              <a:r>
                <a:rPr lang="en-US" altLang="zh-TW" sz="1500" b="0">
                  <a:cs typeface="Arial" panose="020B0604020202020204" pitchFamily="34" charset="0"/>
                </a:rPr>
                <a:t>Himax Technologies, Inc.</a:t>
              </a:r>
            </a:p>
            <a:p>
              <a:pPr algn="dist"/>
              <a:r>
                <a:rPr lang="zh-TW" altLang="en-US" sz="1600" b="0">
                  <a:ea typeface="華康中黑體(P)-UN" pitchFamily="34" charset="-120"/>
                  <a:cs typeface="Arial" panose="020B0604020202020204" pitchFamily="34" charset="0"/>
                </a:rPr>
                <a:t>奇景光電股份有限公司</a:t>
              </a:r>
            </a:p>
          </p:txBody>
        </p:sp>
        <p:sp>
          <p:nvSpPr>
            <p:cNvPr id="3021862" name="Line 38">
              <a:extLst>
                <a:ext uri="{FF2B5EF4-FFF2-40B4-BE49-F238E27FC236}">
                  <a16:creationId xmlns:a16="http://schemas.microsoft.com/office/drawing/2014/main" id="{2F004BE9-2AFB-4258-841A-E03930957E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" y="1856"/>
              <a:ext cx="1347" cy="0"/>
            </a:xfrm>
            <a:prstGeom prst="line">
              <a:avLst/>
            </a:prstGeom>
            <a:noFill/>
            <a:ln w="6350">
              <a:solidFill>
                <a:srgbClr val="0033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79596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02" name="Rectangle 2">
            <a:extLst>
              <a:ext uri="{FF2B5EF4-FFF2-40B4-BE49-F238E27FC236}">
                <a16:creationId xmlns:a16="http://schemas.microsoft.com/office/drawing/2014/main" id="{4972277E-5FF7-49C4-8142-33448055BA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3550" y="1338263"/>
            <a:ext cx="8280400" cy="5008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</p:txBody>
      </p:sp>
      <p:sp>
        <p:nvSpPr>
          <p:cNvPr id="3020803" name="Rectangle 3">
            <a:extLst>
              <a:ext uri="{FF2B5EF4-FFF2-40B4-BE49-F238E27FC236}">
                <a16:creationId xmlns:a16="http://schemas.microsoft.com/office/drawing/2014/main" id="{193EF756-E587-4658-8FA7-D78963E4BC9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22600" y="6527800"/>
            <a:ext cx="19050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ea typeface="新細明體" panose="02020500000000000000" pitchFamily="18" charset="-120"/>
              </a:defRPr>
            </a:lvl1pPr>
          </a:lstStyle>
          <a:p>
            <a:fld id="{DCB03DD5-BB91-400B-9450-669F3C1D354B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3020804" name="Rectangle 4">
            <a:extLst>
              <a:ext uri="{FF2B5EF4-FFF2-40B4-BE49-F238E27FC236}">
                <a16:creationId xmlns:a16="http://schemas.microsoft.com/office/drawing/2014/main" id="{98E6658F-DF2B-45A6-B210-274C7A8E5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3980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pic>
        <p:nvPicPr>
          <p:cNvPr id="3020805" name="Picture 5" descr="LOGO-8">
            <a:extLst>
              <a:ext uri="{FF2B5EF4-FFF2-40B4-BE49-F238E27FC236}">
                <a16:creationId xmlns:a16="http://schemas.microsoft.com/office/drawing/2014/main" id="{67A39060-88FD-402E-AC66-C0661583E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175" y="6337300"/>
            <a:ext cx="1647825" cy="52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20806" name="Rectangle 6">
            <a:extLst>
              <a:ext uri="{FF2B5EF4-FFF2-40B4-BE49-F238E27FC236}">
                <a16:creationId xmlns:a16="http://schemas.microsoft.com/office/drawing/2014/main" id="{F911DBBB-A897-4B57-B811-72F4CE3968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3020807" name="Text Box 7">
            <a:extLst>
              <a:ext uri="{FF2B5EF4-FFF2-40B4-BE49-F238E27FC236}">
                <a16:creationId xmlns:a16="http://schemas.microsoft.com/office/drawing/2014/main" id="{0BD7F6B0-6342-4E5C-8927-A17771BE3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19863"/>
            <a:ext cx="25717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TW" sz="1200" i="1">
                <a:solidFill>
                  <a:schemeClr val="folHlink"/>
                </a:solidFill>
                <a:ea typeface="新細明體" panose="02020500000000000000" pitchFamily="18" charset="-120"/>
              </a:rPr>
              <a:t>Himax Proprietary &amp; 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75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15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2658" name="Rectangle 2">
            <a:extLst>
              <a:ext uri="{FF2B5EF4-FFF2-40B4-BE49-F238E27FC236}">
                <a16:creationId xmlns:a16="http://schemas.microsoft.com/office/drawing/2014/main" id="{7C0959B1-E619-46AB-A5D2-3584DF1DD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3980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pic>
        <p:nvPicPr>
          <p:cNvPr id="3142659" name="Picture 3" descr="master93">
            <a:extLst>
              <a:ext uri="{FF2B5EF4-FFF2-40B4-BE49-F238E27FC236}">
                <a16:creationId xmlns:a16="http://schemas.microsoft.com/office/drawing/2014/main" id="{14DC3E9E-DE58-48F3-8B97-E5CD041CEE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8" y="2436813"/>
            <a:ext cx="3835400" cy="121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42660" name="Text Box 4">
            <a:extLst>
              <a:ext uri="{FF2B5EF4-FFF2-40B4-BE49-F238E27FC236}">
                <a16:creationId xmlns:a16="http://schemas.microsoft.com/office/drawing/2014/main" id="{317BC9DC-C3F1-4CE8-ADD1-609FAE1F35D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835150" y="3727450"/>
            <a:ext cx="558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33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b="0">
                <a:cs typeface="Arial" panose="020B0604020202020204" pitchFamily="34" charset="0"/>
              </a:rPr>
              <a:t>Drive for better vision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kumimoji="1" sz="26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anose="020B0604020202020204" pitchFamily="34" charset="0"/>
          <a:ea typeface="新細明體" panose="02020500000000000000" pitchFamily="18" charset="-120"/>
          <a:cs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anose="020B0604020202020204" pitchFamily="34" charset="0"/>
          <a:ea typeface="新細明體" panose="02020500000000000000" pitchFamily="18" charset="-120"/>
          <a:cs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anose="020B0604020202020204" pitchFamily="34" charset="0"/>
          <a:ea typeface="新細明體" panose="02020500000000000000" pitchFamily="18" charset="-120"/>
          <a:cs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anose="020B0604020202020204" pitchFamily="34" charset="0"/>
          <a:ea typeface="新細明體" panose="02020500000000000000" pitchFamily="18" charset="-120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anose="020B0604020202020204" pitchFamily="34" charset="0"/>
          <a:ea typeface="新細明體" panose="02020500000000000000" pitchFamily="18" charset="-120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anose="020B0604020202020204" pitchFamily="34" charset="0"/>
          <a:ea typeface="新細明體" panose="02020500000000000000" pitchFamily="18" charset="-120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anose="020B0604020202020204" pitchFamily="34" charset="0"/>
          <a:ea typeface="新細明體" panose="02020500000000000000" pitchFamily="18" charset="-120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600">
          <a:solidFill>
            <a:schemeClr val="bg1"/>
          </a:solidFill>
          <a:latin typeface="Arial" panose="020B0604020202020204" pitchFamily="34" charset="0"/>
          <a:ea typeface="新細明體" panose="02020500000000000000" pitchFamily="18" charset="-12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150000"/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8114" y="1103313"/>
            <a:ext cx="8861425" cy="5307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</p:txBody>
      </p:sp>
      <p:sp>
        <p:nvSpPr>
          <p:cNvPr id="30208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92900" y="6473827"/>
            <a:ext cx="841375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726" b="0">
                <a:latin typeface="Arial" charset="0"/>
                <a:ea typeface="新細明體" pitchFamily="18" charset="-120"/>
              </a:defRPr>
            </a:lvl1pPr>
          </a:lstStyle>
          <a:p>
            <a:fld id="{19BCE6D4-5A14-4610-B98C-88AAAAC8ED66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3020804" name="Rectangle 4"/>
          <p:cNvSpPr>
            <a:spLocks noChangeArrowheads="1"/>
          </p:cNvSpPr>
          <p:nvPr/>
        </p:nvSpPr>
        <p:spPr bwMode="auto">
          <a:xfrm>
            <a:off x="0" y="0"/>
            <a:ext cx="9144000" cy="939800"/>
          </a:xfrm>
          <a:prstGeom prst="rect">
            <a:avLst/>
          </a:prstGeom>
          <a:solidFill>
            <a:srgbClr val="3366CC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2032"/>
          </a:p>
        </p:txBody>
      </p:sp>
      <p:pic>
        <p:nvPicPr>
          <p:cNvPr id="4101" name="Picture 5" descr="LOGO-8"/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96176" y="6337300"/>
            <a:ext cx="1647825" cy="52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63514" y="152400"/>
            <a:ext cx="881697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3020807" name="Text Box 7"/>
          <p:cNvSpPr txBox="1">
            <a:spLocks noChangeArrowheads="1"/>
          </p:cNvSpPr>
          <p:nvPr/>
        </p:nvSpPr>
        <p:spPr bwMode="auto">
          <a:xfrm>
            <a:off x="-92527" y="6583364"/>
            <a:ext cx="1933543" cy="2263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TW" sz="871" i="1" dirty="0">
                <a:solidFill>
                  <a:schemeClr val="folHlink"/>
                </a:solidFill>
                <a:ea typeface="新細明體" pitchFamily="18" charset="-120"/>
              </a:rPr>
              <a:t>Himax Proprietary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7723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77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177" b="1">
          <a:solidFill>
            <a:schemeClr val="bg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177" b="1">
          <a:solidFill>
            <a:schemeClr val="bg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177" b="1">
          <a:solidFill>
            <a:schemeClr val="bg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177" b="1">
          <a:solidFill>
            <a:schemeClr val="bg1"/>
          </a:solidFill>
          <a:latin typeface="Arial" charset="0"/>
          <a:cs typeface="Arial" charset="0"/>
        </a:defRPr>
      </a:lvl5pPr>
      <a:lvl6pPr marL="331744" algn="l" rtl="0" eaLnBrk="1" fontAlgn="base" hangingPunct="1">
        <a:spcBef>
          <a:spcPct val="0"/>
        </a:spcBef>
        <a:spcAft>
          <a:spcPct val="0"/>
        </a:spcAft>
        <a:defRPr sz="2177" b="1">
          <a:solidFill>
            <a:schemeClr val="bg1"/>
          </a:solidFill>
          <a:latin typeface="Arial" charset="0"/>
          <a:cs typeface="Arial" charset="0"/>
        </a:defRPr>
      </a:lvl6pPr>
      <a:lvl7pPr marL="663489" algn="l" rtl="0" eaLnBrk="1" fontAlgn="base" hangingPunct="1">
        <a:spcBef>
          <a:spcPct val="0"/>
        </a:spcBef>
        <a:spcAft>
          <a:spcPct val="0"/>
        </a:spcAft>
        <a:defRPr sz="2177" b="1">
          <a:solidFill>
            <a:schemeClr val="bg1"/>
          </a:solidFill>
          <a:latin typeface="Arial" charset="0"/>
          <a:cs typeface="Arial" charset="0"/>
        </a:defRPr>
      </a:lvl7pPr>
      <a:lvl8pPr marL="995233" algn="l" rtl="0" eaLnBrk="1" fontAlgn="base" hangingPunct="1">
        <a:spcBef>
          <a:spcPct val="0"/>
        </a:spcBef>
        <a:spcAft>
          <a:spcPct val="0"/>
        </a:spcAft>
        <a:defRPr sz="2177" b="1">
          <a:solidFill>
            <a:schemeClr val="bg1"/>
          </a:solidFill>
          <a:latin typeface="Arial" charset="0"/>
          <a:cs typeface="Arial" charset="0"/>
        </a:defRPr>
      </a:lvl8pPr>
      <a:lvl9pPr marL="1326977" algn="l" rtl="0" eaLnBrk="1" fontAlgn="base" hangingPunct="1">
        <a:spcBef>
          <a:spcPct val="0"/>
        </a:spcBef>
        <a:spcAft>
          <a:spcPct val="0"/>
        </a:spcAft>
        <a:defRPr sz="2177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48808" indent="-248808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l"/>
        <a:defRPr sz="1451">
          <a:solidFill>
            <a:schemeClr val="tx1"/>
          </a:solidFill>
          <a:latin typeface="+mn-lt"/>
          <a:ea typeface="+mn-ea"/>
          <a:cs typeface="+mn-cs"/>
        </a:defRPr>
      </a:lvl1pPr>
      <a:lvl2pPr marL="539085" indent="-20734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v"/>
        <a:defRPr>
          <a:solidFill>
            <a:schemeClr val="tx1"/>
          </a:solidFill>
          <a:latin typeface="+mn-lt"/>
          <a:cs typeface="+mn-cs"/>
        </a:defRPr>
      </a:lvl2pPr>
      <a:lvl3pPr marL="829361" indent="-16587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161">
          <a:solidFill>
            <a:schemeClr val="tx1"/>
          </a:solidFill>
          <a:latin typeface="+mn-lt"/>
          <a:cs typeface="+mn-cs"/>
        </a:defRPr>
      </a:lvl3pPr>
      <a:lvl4pPr marL="1161105" indent="-16587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Ø"/>
        <a:defRPr sz="1161">
          <a:solidFill>
            <a:schemeClr val="tx1"/>
          </a:solidFill>
          <a:latin typeface="+mn-lt"/>
          <a:cs typeface="+mn-cs"/>
        </a:defRPr>
      </a:lvl4pPr>
      <a:lvl5pPr marL="1492849" indent="-16587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451">
          <a:solidFill>
            <a:schemeClr val="tx1"/>
          </a:solidFill>
          <a:latin typeface="+mn-lt"/>
          <a:cs typeface="+mn-cs"/>
        </a:defRPr>
      </a:lvl5pPr>
      <a:lvl6pPr marL="1824594" indent="-16587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451">
          <a:solidFill>
            <a:schemeClr val="tx1"/>
          </a:solidFill>
          <a:latin typeface="+mn-lt"/>
          <a:cs typeface="+mn-cs"/>
        </a:defRPr>
      </a:lvl6pPr>
      <a:lvl7pPr marL="2156338" indent="-16587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451">
          <a:solidFill>
            <a:schemeClr val="tx1"/>
          </a:solidFill>
          <a:latin typeface="+mn-lt"/>
          <a:cs typeface="+mn-cs"/>
        </a:defRPr>
      </a:lvl7pPr>
      <a:lvl8pPr marL="2488082" indent="-16587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451">
          <a:solidFill>
            <a:schemeClr val="tx1"/>
          </a:solidFill>
          <a:latin typeface="+mn-lt"/>
          <a:cs typeface="+mn-cs"/>
        </a:defRPr>
      </a:lvl8pPr>
      <a:lvl9pPr marL="2819827" indent="-16587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451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TW"/>
      </a:defPPr>
      <a:lvl1pPr marL="0" algn="l" defTabSz="663489" rtl="0" eaLnBrk="1" latinLnBrk="0" hangingPunct="1">
        <a:defRPr sz="1306" kern="1200">
          <a:solidFill>
            <a:schemeClr val="tx1"/>
          </a:solidFill>
          <a:latin typeface="+mn-lt"/>
          <a:ea typeface="+mn-ea"/>
          <a:cs typeface="+mn-cs"/>
        </a:defRPr>
      </a:lvl1pPr>
      <a:lvl2pPr marL="331744" algn="l" defTabSz="663489" rtl="0" eaLnBrk="1" latinLnBrk="0" hangingPunct="1">
        <a:defRPr sz="1306" kern="1200">
          <a:solidFill>
            <a:schemeClr val="tx1"/>
          </a:solidFill>
          <a:latin typeface="+mn-lt"/>
          <a:ea typeface="+mn-ea"/>
          <a:cs typeface="+mn-cs"/>
        </a:defRPr>
      </a:lvl2pPr>
      <a:lvl3pPr marL="663489" algn="l" defTabSz="663489" rtl="0" eaLnBrk="1" latinLnBrk="0" hangingPunct="1">
        <a:defRPr sz="1306" kern="1200">
          <a:solidFill>
            <a:schemeClr val="tx1"/>
          </a:solidFill>
          <a:latin typeface="+mn-lt"/>
          <a:ea typeface="+mn-ea"/>
          <a:cs typeface="+mn-cs"/>
        </a:defRPr>
      </a:lvl3pPr>
      <a:lvl4pPr marL="995233" algn="l" defTabSz="663489" rtl="0" eaLnBrk="1" latinLnBrk="0" hangingPunct="1">
        <a:defRPr sz="1306" kern="1200">
          <a:solidFill>
            <a:schemeClr val="tx1"/>
          </a:solidFill>
          <a:latin typeface="+mn-lt"/>
          <a:ea typeface="+mn-ea"/>
          <a:cs typeface="+mn-cs"/>
        </a:defRPr>
      </a:lvl4pPr>
      <a:lvl5pPr marL="1326977" algn="l" defTabSz="663489" rtl="0" eaLnBrk="1" latinLnBrk="0" hangingPunct="1">
        <a:defRPr sz="1306" kern="1200">
          <a:solidFill>
            <a:schemeClr val="tx1"/>
          </a:solidFill>
          <a:latin typeface="+mn-lt"/>
          <a:ea typeface="+mn-ea"/>
          <a:cs typeface="+mn-cs"/>
        </a:defRPr>
      </a:lvl5pPr>
      <a:lvl6pPr marL="1658722" algn="l" defTabSz="663489" rtl="0" eaLnBrk="1" latinLnBrk="0" hangingPunct="1">
        <a:defRPr sz="1306" kern="1200">
          <a:solidFill>
            <a:schemeClr val="tx1"/>
          </a:solidFill>
          <a:latin typeface="+mn-lt"/>
          <a:ea typeface="+mn-ea"/>
          <a:cs typeface="+mn-cs"/>
        </a:defRPr>
      </a:lvl6pPr>
      <a:lvl7pPr marL="1990466" algn="l" defTabSz="663489" rtl="0" eaLnBrk="1" latinLnBrk="0" hangingPunct="1">
        <a:defRPr sz="1306" kern="1200">
          <a:solidFill>
            <a:schemeClr val="tx1"/>
          </a:solidFill>
          <a:latin typeface="+mn-lt"/>
          <a:ea typeface="+mn-ea"/>
          <a:cs typeface="+mn-cs"/>
        </a:defRPr>
      </a:lvl7pPr>
      <a:lvl8pPr marL="2322210" algn="l" defTabSz="663489" rtl="0" eaLnBrk="1" latinLnBrk="0" hangingPunct="1">
        <a:defRPr sz="1306" kern="1200">
          <a:solidFill>
            <a:schemeClr val="tx1"/>
          </a:solidFill>
          <a:latin typeface="+mn-lt"/>
          <a:ea typeface="+mn-ea"/>
          <a:cs typeface="+mn-cs"/>
        </a:defRPr>
      </a:lvl8pPr>
      <a:lvl9pPr marL="2653955" algn="l" defTabSz="663489" rtl="0" eaLnBrk="1" latinLnBrk="0" hangingPunct="1">
        <a:defRPr sz="13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5985" name="Group 17">
            <a:extLst>
              <a:ext uri="{FF2B5EF4-FFF2-40B4-BE49-F238E27FC236}">
                <a16:creationId xmlns:a16="http://schemas.microsoft.com/office/drawing/2014/main" id="{8E8A9343-488A-4FBE-AF24-F3F68AE5C670}"/>
              </a:ext>
            </a:extLst>
          </p:cNvPr>
          <p:cNvGrpSpPr>
            <a:grpSpLocks/>
          </p:cNvGrpSpPr>
          <p:nvPr/>
        </p:nvGrpSpPr>
        <p:grpSpPr bwMode="auto">
          <a:xfrm>
            <a:off x="2557463" y="2768600"/>
            <a:ext cx="6169025" cy="2174875"/>
            <a:chOff x="1611" y="1744"/>
            <a:chExt cx="3886" cy="1370"/>
          </a:xfrm>
        </p:grpSpPr>
        <p:sp>
          <p:nvSpPr>
            <p:cNvPr id="3155986" name="Text Box 18">
              <a:extLst>
                <a:ext uri="{FF2B5EF4-FFF2-40B4-BE49-F238E27FC236}">
                  <a16:creationId xmlns:a16="http://schemas.microsoft.com/office/drawing/2014/main" id="{7BE54BA1-F929-4EE4-953F-41CE29FDC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1" y="1744"/>
              <a:ext cx="3872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D0714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TW" sz="3200" b="0" dirty="0">
                  <a:cs typeface="Arial" panose="020B0604020202020204" pitchFamily="34" charset="0"/>
                </a:rPr>
                <a:t>FR</a:t>
              </a:r>
              <a:r>
                <a:rPr lang="zh-TW" altLang="en-US" sz="3200" b="0" dirty="0">
                  <a:cs typeface="Arial" panose="020B0604020202020204" pitchFamily="34" charset="0"/>
                </a:rPr>
                <a:t> </a:t>
              </a:r>
              <a:r>
                <a:rPr lang="en-US" altLang="zh-TW" sz="3200" b="0" dirty="0">
                  <a:cs typeface="Arial" panose="020B0604020202020204" pitchFamily="34" charset="0"/>
                </a:rPr>
                <a:t>training package usage</a:t>
              </a:r>
            </a:p>
            <a:p>
              <a:pPr algn="l"/>
              <a:endParaRPr lang="en-US" altLang="zh-TW" sz="3200" b="0" dirty="0">
                <a:cs typeface="Arial" panose="020B0604020202020204" pitchFamily="34" charset="0"/>
              </a:endParaRPr>
            </a:p>
          </p:txBody>
        </p:sp>
        <p:sp>
          <p:nvSpPr>
            <p:cNvPr id="3155987" name="Text Box 19">
              <a:extLst>
                <a:ext uri="{FF2B5EF4-FFF2-40B4-BE49-F238E27FC236}">
                  <a16:creationId xmlns:a16="http://schemas.microsoft.com/office/drawing/2014/main" id="{F42EAAAE-9894-41AF-B812-FC58412850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7" y="2881"/>
              <a:ext cx="387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D0714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TW" sz="1800" b="0" dirty="0">
                  <a:cs typeface="Arial" panose="020B0604020202020204" pitchFamily="34" charset="0"/>
                </a:rPr>
                <a:t>20251127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950332-DF50-428D-B288-D80E73DC7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930BB5-7843-5CAF-32CF-530F9B549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https://github.com/sirius-ai/MobileFaceNet_TF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1F59DF-D887-7C36-D606-8957A24011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B18A12-519B-49DA-9632-7336727FEAA0}" type="slidenum">
              <a:rPr lang="en-US" altLang="zh-TW" smtClean="0"/>
              <a:pPr/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07017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809C99-2E25-3A0D-0426-A2671FBFB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Step1: Build Python Environment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6A0E66-A4DE-0998-7C16-48CB12001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Install </a:t>
            </a:r>
            <a:r>
              <a:rPr lang="en-US" altLang="zh-TW" dirty="0" err="1"/>
              <a:t>miniconda</a:t>
            </a:r>
            <a:endParaRPr lang="en-US" altLang="zh-TW" dirty="0"/>
          </a:p>
          <a:p>
            <a:pPr lvl="1"/>
            <a:r>
              <a:rPr lang="en-US" altLang="zh-TW" dirty="0"/>
              <a:t>https://www.anaconda.com/download</a:t>
            </a:r>
          </a:p>
          <a:p>
            <a:r>
              <a:rPr lang="en-US" altLang="zh-TW" dirty="0"/>
              <a:t>Open anaconda prompt, and change the working directory to the path of this package</a:t>
            </a:r>
          </a:p>
          <a:p>
            <a:r>
              <a:rPr lang="en-US" altLang="zh-TW" dirty="0"/>
              <a:t>Install</a:t>
            </a:r>
            <a:r>
              <a:rPr lang="zh-TW" altLang="en-US" dirty="0"/>
              <a:t> </a:t>
            </a:r>
            <a:r>
              <a:rPr lang="en-US" altLang="zh-TW" dirty="0"/>
              <a:t>3</a:t>
            </a:r>
            <a:r>
              <a:rPr lang="zh-TW" altLang="en-US" dirty="0"/>
              <a:t> </a:t>
            </a:r>
            <a:r>
              <a:rPr lang="en-US" altLang="zh-TW" dirty="0"/>
              <a:t>environment (tf1.15.yml , tf2.6.yml , </a:t>
            </a:r>
            <a:r>
              <a:rPr lang="en-US" altLang="zh-TW" dirty="0" err="1"/>
              <a:t>vela.yml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For example: </a:t>
            </a:r>
            <a:r>
              <a:rPr lang="en-US" altLang="zh-TW" dirty="0" err="1"/>
              <a:t>conda</a:t>
            </a:r>
            <a:r>
              <a:rPr lang="en-US" altLang="zh-TW" dirty="0"/>
              <a:t> env create -f tf1.15.yml</a:t>
            </a:r>
          </a:p>
          <a:p>
            <a:r>
              <a:rPr lang="en-US" altLang="zh-TW" dirty="0"/>
              <a:t>(For vela) Install </a:t>
            </a:r>
            <a:r>
              <a:rPr lang="en-US" altLang="zh-TW" dirty="0" err="1"/>
              <a:t>cmake</a:t>
            </a:r>
            <a:r>
              <a:rPr lang="en-US" altLang="zh-TW" dirty="0"/>
              <a:t> and VS build tools 2015</a:t>
            </a:r>
          </a:p>
          <a:p>
            <a:pPr lvl="1"/>
            <a:r>
              <a:rPr lang="en-US" altLang="zh-TW" dirty="0"/>
              <a:t>https://cmake.org/download/</a:t>
            </a:r>
          </a:p>
          <a:p>
            <a:pPr lvl="1"/>
            <a:r>
              <a:rPr lang="en-US" altLang="zh-TW" dirty="0"/>
              <a:t>https://www.microsoft.com/zh-tw/download/details.aspx?id=48159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57FF77-43DD-BBB3-C00A-67B56B4492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B18A12-519B-49DA-9632-7336727FEAA0}" type="slidenum">
              <a:rPr lang="en-US" altLang="zh-TW" smtClean="0"/>
              <a:pPr/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0334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6AF09-EB8A-BBD4-0244-5BAE542E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Quick Try Run of a Toy Example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3FF31C-19BC-85FB-DDC0-E28C034E0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conda</a:t>
            </a:r>
            <a:r>
              <a:rPr lang="en-US" altLang="zh-TW" dirty="0"/>
              <a:t> activate tf1.15</a:t>
            </a:r>
          </a:p>
          <a:p>
            <a:r>
              <a:rPr lang="en-US" altLang="zh-TW" dirty="0"/>
              <a:t>(tf1.15) python train_nets.py --</a:t>
            </a:r>
            <a:r>
              <a:rPr lang="en-US" altLang="zh-TW" dirty="0" err="1"/>
              <a:t>class_number</a:t>
            </a:r>
            <a:r>
              <a:rPr lang="en-US" altLang="zh-TW" dirty="0"/>
              <a:t> 5</a:t>
            </a:r>
          </a:p>
          <a:p>
            <a:r>
              <a:rPr lang="en-US" altLang="zh-TW" dirty="0"/>
              <a:t>(tf1.15) python freeze_graph.py</a:t>
            </a:r>
          </a:p>
          <a:p>
            <a:r>
              <a:rPr lang="en-US" altLang="zh-TW" dirty="0" err="1"/>
              <a:t>conda</a:t>
            </a:r>
            <a:r>
              <a:rPr lang="en-US" altLang="zh-TW" dirty="0"/>
              <a:t> activate tf2.6</a:t>
            </a:r>
          </a:p>
          <a:p>
            <a:r>
              <a:rPr lang="en-US" altLang="zh-TW" dirty="0"/>
              <a:t>(tf2.6) python tflite_converter.py</a:t>
            </a:r>
          </a:p>
          <a:p>
            <a:r>
              <a:rPr lang="en-US" altLang="zh-TW" dirty="0"/>
              <a:t>(tf2.6) python test.py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EF7B73-0BB9-361E-A61A-57E42BA4E2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B18A12-519B-49DA-9632-7336727FEAA0}" type="slidenum">
              <a:rPr lang="en-US" altLang="zh-TW" smtClean="0"/>
              <a:pPr/>
              <a:t>4</a:t>
            </a:fld>
            <a:endParaRPr lang="en-US" altLang="zh-TW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C448FC6-41A7-AA34-A2CE-37989D358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934" y="3272808"/>
            <a:ext cx="413442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858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C90A39-6A83-415A-714C-35F8B8B14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Step2: Prepare Images and label file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9DE65F-C63B-C886-665A-28605514A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Crop the face image, which should be squared</a:t>
            </a:r>
          </a:p>
          <a:p>
            <a:r>
              <a:rPr lang="en-US" altLang="zh-TW" dirty="0"/>
              <a:t>Resize the image to the shape of model input, which is 112x112</a:t>
            </a:r>
          </a:p>
          <a:p>
            <a:r>
              <a:rPr lang="en-US" altLang="zh-TW" dirty="0"/>
              <a:t>Generate a label file, format:</a:t>
            </a:r>
          </a:p>
          <a:p>
            <a:pPr lvl="1"/>
            <a:r>
              <a:rPr lang="en-US" altLang="zh-TW" dirty="0" err="1"/>
              <a:t>Image_path</a:t>
            </a:r>
            <a:r>
              <a:rPr lang="en-US" altLang="zh-TW" dirty="0"/>
              <a:t> </a:t>
            </a:r>
            <a:r>
              <a:rPr lang="en-US" altLang="zh-TW" dirty="0" err="1"/>
              <a:t>class_id</a:t>
            </a:r>
            <a:endParaRPr lang="en-US" altLang="zh-TW" dirty="0"/>
          </a:p>
          <a:p>
            <a:pPr lvl="1"/>
            <a:r>
              <a:rPr lang="en-US" altLang="zh-TW" dirty="0"/>
              <a:t>Assign a </a:t>
            </a:r>
            <a:r>
              <a:rPr lang="en-US" altLang="zh-TW" dirty="0" err="1"/>
              <a:t>class_id</a:t>
            </a:r>
            <a:r>
              <a:rPr lang="en-US" altLang="zh-TW" dirty="0"/>
              <a:t> to each person</a:t>
            </a:r>
          </a:p>
          <a:p>
            <a:pPr lvl="1"/>
            <a:r>
              <a:rPr lang="en-US" altLang="zh-TW" dirty="0" err="1"/>
              <a:t>class_id</a:t>
            </a:r>
            <a:r>
              <a:rPr lang="en-US" altLang="zh-TW" dirty="0"/>
              <a:t> should start from zero, and being consecutive</a:t>
            </a:r>
          </a:p>
          <a:p>
            <a:pPr lvl="1"/>
            <a:r>
              <a:rPr lang="en-US" altLang="zh-TW" dirty="0"/>
              <a:t>Example file: ./dataset/demo.txt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223D76-62BB-BC1F-E9AF-4D0C7107F9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B18A12-519B-49DA-9632-7336727FEAA0}" type="slidenum">
              <a:rPr lang="en-US" altLang="zh-TW" smtClean="0"/>
              <a:pPr/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0678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351317-97AD-055B-C853-7D4223990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Step3: Prepare </a:t>
            </a:r>
            <a:r>
              <a:rPr lang="en-US" altLang="zh-TW" dirty="0" err="1"/>
              <a:t>tfrecord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8C1AB7-3239-E820-495D-98C41F389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Modify </a:t>
            </a:r>
            <a:r>
              <a:rPr lang="en-US" altLang="zh-TW" dirty="0" err="1"/>
              <a:t>tfrecord_path</a:t>
            </a:r>
            <a:r>
              <a:rPr lang="en-US" altLang="zh-TW" dirty="0"/>
              <a:t> and </a:t>
            </a:r>
            <a:r>
              <a:rPr lang="en-US" altLang="zh-TW" dirty="0" err="1"/>
              <a:t>src_txt</a:t>
            </a:r>
            <a:r>
              <a:rPr lang="en-US" altLang="zh-TW" dirty="0"/>
              <a:t> in create_tfrecord.py</a:t>
            </a:r>
          </a:p>
          <a:p>
            <a:pPr lvl="1"/>
            <a:r>
              <a:rPr lang="en-US" altLang="zh-TW" dirty="0" err="1"/>
              <a:t>tfrecord_path</a:t>
            </a:r>
            <a:r>
              <a:rPr lang="en-US" altLang="zh-TW" dirty="0"/>
              <a:t>: the output </a:t>
            </a:r>
            <a:r>
              <a:rPr lang="en-US" altLang="zh-TW" dirty="0" err="1"/>
              <a:t>tfrecord</a:t>
            </a:r>
            <a:r>
              <a:rPr lang="en-US" altLang="zh-TW" dirty="0"/>
              <a:t> path</a:t>
            </a:r>
          </a:p>
          <a:p>
            <a:pPr lvl="1"/>
            <a:r>
              <a:rPr lang="en-US" altLang="zh-TW" dirty="0" err="1"/>
              <a:t>src_txt</a:t>
            </a:r>
            <a:r>
              <a:rPr lang="en-US" altLang="zh-TW" dirty="0"/>
              <a:t>: the label file prepared in the previous step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Switch to tf1.15</a:t>
            </a:r>
          </a:p>
          <a:p>
            <a:pPr lvl="1"/>
            <a:r>
              <a:rPr lang="en-US" altLang="zh-TW" dirty="0" err="1"/>
              <a:t>conda</a:t>
            </a:r>
            <a:r>
              <a:rPr lang="en-US" altLang="zh-TW" dirty="0"/>
              <a:t> activate tf1.15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(tf1.15) python create_tfrecord.py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2D7382-F7EE-BFDB-23BF-4A39AC6419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B18A12-519B-49DA-9632-7336727FEAA0}" type="slidenum">
              <a:rPr lang="en-US" altLang="zh-TW" smtClean="0"/>
              <a:pPr/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5073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8ED0F7-F719-2D9E-A0AD-7E8BA7670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Step4: training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43E852-8843-F53B-8C3F-3A9EDA2B0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Modify config in train_nets.py</a:t>
            </a:r>
          </a:p>
          <a:p>
            <a:pPr lvl="1"/>
            <a:r>
              <a:rPr lang="en-US" altLang="zh-TW" dirty="0"/>
              <a:t>We only provide a toy example</a:t>
            </a:r>
          </a:p>
          <a:p>
            <a:pPr lvl="1"/>
            <a:r>
              <a:rPr lang="en-US" altLang="zh-TW" dirty="0"/>
              <a:t>Modify input/output path</a:t>
            </a:r>
          </a:p>
          <a:p>
            <a:pPr lvl="2"/>
            <a:r>
              <a:rPr lang="en-US" altLang="zh-TW" dirty="0"/>
              <a:t>Input: --</a:t>
            </a:r>
            <a:r>
              <a:rPr lang="en-US" altLang="zh-TW" dirty="0" err="1"/>
              <a:t>tfrecords_file_path</a:t>
            </a:r>
            <a:endParaRPr lang="en-US" altLang="zh-TW" dirty="0"/>
          </a:p>
          <a:p>
            <a:pPr lvl="2"/>
            <a:r>
              <a:rPr lang="en-US" altLang="zh-TW" dirty="0"/>
              <a:t>Output: --</a:t>
            </a:r>
            <a:r>
              <a:rPr lang="en-US" altLang="zh-TW" dirty="0" err="1"/>
              <a:t>ckpt_path</a:t>
            </a:r>
            <a:r>
              <a:rPr lang="en-US" altLang="zh-TW" dirty="0"/>
              <a:t> &amp; --</a:t>
            </a:r>
            <a:r>
              <a:rPr lang="en-US" altLang="zh-TW" dirty="0" err="1"/>
              <a:t>summary_path</a:t>
            </a:r>
            <a:r>
              <a:rPr lang="en-US" altLang="zh-TW" dirty="0"/>
              <a:t> &amp; --</a:t>
            </a:r>
            <a:r>
              <a:rPr lang="en-US" altLang="zh-TW" dirty="0" err="1"/>
              <a:t>log_file_path</a:t>
            </a:r>
            <a:endParaRPr lang="en-US" altLang="zh-TW" dirty="0"/>
          </a:p>
          <a:p>
            <a:pPr lvl="1"/>
            <a:r>
              <a:rPr lang="en-US" altLang="zh-TW" dirty="0"/>
              <a:t>For practical use, the suggested config is in the following page</a:t>
            </a:r>
          </a:p>
          <a:p>
            <a:endParaRPr lang="en-US" altLang="zh-TW" dirty="0"/>
          </a:p>
          <a:p>
            <a:r>
              <a:rPr lang="en-US" altLang="zh-TW" dirty="0"/>
              <a:t>Switch to tf1.15</a:t>
            </a:r>
          </a:p>
          <a:p>
            <a:pPr lvl="1"/>
            <a:r>
              <a:rPr lang="en-US" altLang="zh-TW" dirty="0" err="1"/>
              <a:t>conda</a:t>
            </a:r>
            <a:r>
              <a:rPr lang="en-US" altLang="zh-TW" dirty="0"/>
              <a:t> activate tf1.15</a:t>
            </a:r>
          </a:p>
          <a:p>
            <a:endParaRPr lang="en-US" altLang="zh-TW" dirty="0"/>
          </a:p>
          <a:p>
            <a:r>
              <a:rPr lang="en-US" altLang="zh-TW" dirty="0"/>
              <a:t>(tf1.15) python train_nets.py --</a:t>
            </a:r>
            <a:r>
              <a:rPr lang="en-US" altLang="zh-TW" dirty="0" err="1"/>
              <a:t>class_number</a:t>
            </a:r>
            <a:r>
              <a:rPr lang="en-US" altLang="zh-TW" dirty="0"/>
              <a:t> </a:t>
            </a:r>
            <a:r>
              <a:rPr lang="en-US" altLang="zh-TW" dirty="0" err="1"/>
              <a:t>your_class_num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4953AD-1685-F212-D70A-24F1FE60B1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B18A12-519B-49DA-9632-7336727FEAA0}" type="slidenum">
              <a:rPr lang="en-US" altLang="zh-TW" smtClean="0"/>
              <a:pPr/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84105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2B8CF8-4F96-C180-9547-94E613BA3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Suggested config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0F0F8F-1356-0995-E8BC-95341B0C4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Suggested config for practical use</a:t>
            </a:r>
          </a:p>
          <a:p>
            <a:pPr lvl="1"/>
            <a:r>
              <a:rPr lang="en-US" altLang="zh-TW" dirty="0"/>
              <a:t>Dataset image number</a:t>
            </a:r>
          </a:p>
          <a:p>
            <a:pPr lvl="2"/>
            <a:r>
              <a:rPr lang="en-US" altLang="zh-TW" dirty="0"/>
              <a:t>over 1.5 million images (including augmentation)</a:t>
            </a:r>
          </a:p>
          <a:p>
            <a:pPr lvl="1"/>
            <a:r>
              <a:rPr lang="en-US" altLang="zh-TW" dirty="0"/>
              <a:t>Batch size (--</a:t>
            </a:r>
            <a:r>
              <a:rPr lang="en-US" altLang="zh-TW" dirty="0" err="1"/>
              <a:t>train_batch_size</a:t>
            </a:r>
            <a:r>
              <a:rPr lang="en-US" altLang="zh-TW" dirty="0"/>
              <a:t>)</a:t>
            </a:r>
          </a:p>
          <a:p>
            <a:pPr lvl="2"/>
            <a:r>
              <a:rPr lang="en-US" altLang="zh-TW" dirty="0"/>
              <a:t>96</a:t>
            </a:r>
          </a:p>
          <a:p>
            <a:pPr lvl="1"/>
            <a:r>
              <a:rPr lang="en-US" altLang="zh-TW" dirty="0"/>
              <a:t>Epochs (--</a:t>
            </a:r>
            <a:r>
              <a:rPr lang="en-US" altLang="zh-TW" dirty="0" err="1"/>
              <a:t>max_epoch</a:t>
            </a:r>
            <a:r>
              <a:rPr lang="en-US" altLang="zh-TW" dirty="0"/>
              <a:t>)</a:t>
            </a:r>
          </a:p>
          <a:p>
            <a:pPr lvl="2"/>
            <a:r>
              <a:rPr lang="en-US" altLang="zh-TW" dirty="0"/>
              <a:t>300</a:t>
            </a:r>
          </a:p>
          <a:p>
            <a:pPr lvl="1"/>
            <a:r>
              <a:rPr lang="en-US" altLang="zh-TW" dirty="0"/>
              <a:t>Learning rate schedule (--</a:t>
            </a:r>
            <a:r>
              <a:rPr lang="en-US" altLang="zh-TW" dirty="0" err="1"/>
              <a:t>lr_schedule</a:t>
            </a:r>
            <a:r>
              <a:rPr lang="en-US" altLang="zh-TW" dirty="0"/>
              <a:t>)</a:t>
            </a:r>
          </a:p>
          <a:p>
            <a:pPr lvl="2"/>
            <a:r>
              <a:rPr lang="en-US" altLang="zh-TW" dirty="0"/>
              <a:t>[60, 120, 180, 240]</a:t>
            </a:r>
          </a:p>
          <a:p>
            <a:pPr lvl="1"/>
            <a:r>
              <a:rPr lang="en-US" altLang="zh-TW" dirty="0"/>
              <a:t>Class number (--</a:t>
            </a:r>
            <a:r>
              <a:rPr lang="en-US" altLang="zh-TW" dirty="0" err="1"/>
              <a:t>class_number</a:t>
            </a:r>
            <a:r>
              <a:rPr lang="en-US" altLang="zh-TW" dirty="0"/>
              <a:t>)</a:t>
            </a:r>
          </a:p>
          <a:p>
            <a:pPr lvl="2"/>
            <a:r>
              <a:rPr lang="en-US" altLang="zh-TW" dirty="0"/>
              <a:t>For example, 3 person, id with 0,1,2, then </a:t>
            </a:r>
            <a:r>
              <a:rPr lang="en-US" altLang="zh-TW" dirty="0" err="1"/>
              <a:t>class_number</a:t>
            </a:r>
            <a:r>
              <a:rPr lang="en-US" altLang="zh-TW" dirty="0"/>
              <a:t> =3</a:t>
            </a:r>
          </a:p>
          <a:p>
            <a:pPr lvl="2"/>
            <a:r>
              <a:rPr lang="en-US" altLang="zh-TW" dirty="0"/>
              <a:t>Suggest class number over 10000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7C7A1C-973A-9F53-57DF-248576E662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B18A12-519B-49DA-9632-7336727FEAA0}" type="slidenum">
              <a:rPr lang="en-US" altLang="zh-TW" smtClean="0"/>
              <a:pPr/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3532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21C517-BB27-8EF8-DB4E-E82A7ED06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Step5: freeze weight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84CC01-E2CF-FF25-C7FE-85D13C84C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Switch to tf1.15</a:t>
            </a:r>
          </a:p>
          <a:p>
            <a:pPr lvl="1"/>
            <a:r>
              <a:rPr lang="en-US" altLang="zh-TW" dirty="0" err="1"/>
              <a:t>conda</a:t>
            </a:r>
            <a:r>
              <a:rPr lang="en-US" altLang="zh-TW" dirty="0"/>
              <a:t> activate tf1.15</a:t>
            </a:r>
          </a:p>
          <a:p>
            <a:r>
              <a:rPr lang="en-US" altLang="zh-TW" dirty="0"/>
              <a:t>Check the training accuracy and pick a </a:t>
            </a:r>
            <a:r>
              <a:rPr lang="en-US" altLang="zh-TW" dirty="0" err="1"/>
              <a:t>ckpt</a:t>
            </a:r>
            <a:r>
              <a:rPr lang="en-US" altLang="zh-TW" dirty="0"/>
              <a:t> file to freeze</a:t>
            </a:r>
          </a:p>
          <a:p>
            <a:r>
              <a:rPr lang="en-US" altLang="zh-TW" dirty="0"/>
              <a:t>Modify the input/output path in freeze_graph.py</a:t>
            </a:r>
          </a:p>
          <a:p>
            <a:pPr lvl="1"/>
            <a:r>
              <a:rPr lang="en-US" altLang="zh-TW" dirty="0"/>
              <a:t>--</a:t>
            </a:r>
            <a:r>
              <a:rPr lang="en-US" altLang="zh-TW" dirty="0" err="1"/>
              <a:t>pretrained_model</a:t>
            </a:r>
            <a:r>
              <a:rPr lang="en-US" altLang="zh-TW" dirty="0"/>
              <a:t>: </a:t>
            </a:r>
            <a:r>
              <a:rPr lang="en-US" altLang="zh-TW" dirty="0" err="1"/>
              <a:t>ckpt</a:t>
            </a:r>
            <a:r>
              <a:rPr lang="en-US" altLang="zh-TW" dirty="0"/>
              <a:t> file to freeze</a:t>
            </a:r>
          </a:p>
          <a:p>
            <a:pPr lvl="1"/>
            <a:r>
              <a:rPr lang="en-US" altLang="zh-TW" dirty="0"/>
              <a:t>--</a:t>
            </a:r>
            <a:r>
              <a:rPr lang="en-US" altLang="zh-TW" dirty="0" err="1"/>
              <a:t>output_file</a:t>
            </a:r>
            <a:r>
              <a:rPr lang="en-US" altLang="zh-TW" dirty="0"/>
              <a:t>: path of the output pb file</a:t>
            </a:r>
          </a:p>
          <a:p>
            <a:r>
              <a:rPr lang="en-US" altLang="zh-TW" dirty="0"/>
              <a:t>(tf1.15) python freeze_graph.py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0685DD-8F06-1F4C-1499-98B3568C38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B18A12-519B-49DA-9632-7336727FEAA0}" type="slidenum">
              <a:rPr lang="en-US" altLang="zh-TW" smtClean="0"/>
              <a:pPr/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08560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Step6: </a:t>
            </a:r>
            <a:r>
              <a:rPr lang="en-US" altLang="zh-TW" dirty="0" err="1"/>
              <a:t>Tflite</a:t>
            </a:r>
            <a:r>
              <a:rPr lang="en-US" altLang="zh-TW" dirty="0"/>
              <a:t> convert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3550" y="1319514"/>
            <a:ext cx="8280400" cy="5081286"/>
          </a:xfrm>
        </p:spPr>
        <p:txBody>
          <a:bodyPr/>
          <a:lstStyle/>
          <a:p>
            <a:r>
              <a:rPr lang="en-US" altLang="zh-TW" dirty="0"/>
              <a:t>Switch to tf2.6</a:t>
            </a:r>
          </a:p>
          <a:p>
            <a:pPr lvl="1"/>
            <a:r>
              <a:rPr lang="en-US" altLang="zh-TW" dirty="0" err="1"/>
              <a:t>conda</a:t>
            </a:r>
            <a:r>
              <a:rPr lang="en-US" altLang="zh-TW" dirty="0"/>
              <a:t> activate tf2.6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Modify the paths in tflite_converter.py</a:t>
            </a:r>
          </a:p>
          <a:p>
            <a:pPr lvl="1"/>
            <a:r>
              <a:rPr lang="en-US" altLang="zh-TW" dirty="0" err="1"/>
              <a:t>frozen_weight_graph</a:t>
            </a:r>
            <a:r>
              <a:rPr lang="en-US" altLang="zh-TW" dirty="0"/>
              <a:t>: the frozen weight</a:t>
            </a:r>
          </a:p>
          <a:p>
            <a:pPr lvl="1"/>
            <a:r>
              <a:rPr lang="en-US" altLang="zh-TW" dirty="0" err="1"/>
              <a:t>output_path</a:t>
            </a:r>
            <a:r>
              <a:rPr lang="en-US" altLang="zh-TW" dirty="0"/>
              <a:t>: the output </a:t>
            </a:r>
            <a:r>
              <a:rPr lang="en-US" altLang="zh-TW" dirty="0" err="1"/>
              <a:t>tflite</a:t>
            </a:r>
            <a:r>
              <a:rPr lang="en-US" altLang="zh-TW" dirty="0"/>
              <a:t> file path</a:t>
            </a:r>
          </a:p>
          <a:p>
            <a:pPr lvl="1"/>
            <a:r>
              <a:rPr lang="en-US" altLang="zh-TW" dirty="0" err="1"/>
              <a:t>representative_file_path</a:t>
            </a:r>
            <a:r>
              <a:rPr lang="en-US" altLang="zh-TW" dirty="0"/>
              <a:t>: use the file list in “step3: prepare </a:t>
            </a:r>
            <a:r>
              <a:rPr lang="en-US" altLang="zh-TW" dirty="0" err="1"/>
              <a:t>tfrecord</a:t>
            </a:r>
            <a:r>
              <a:rPr lang="en-US" altLang="zh-TW" dirty="0"/>
              <a:t>”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(tf2.6) python tflite_converter.py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C1EFBC-26DD-498E-A233-67603FB6421C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38360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2E5892-8576-ACCA-9225-6861A722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Step7: inference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1039E1-D4FE-4B74-D41E-95D9216CF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Switch to tf2.6</a:t>
            </a:r>
          </a:p>
          <a:p>
            <a:pPr lvl="1"/>
            <a:r>
              <a:rPr lang="en-US" altLang="zh-TW" dirty="0" err="1"/>
              <a:t>conda</a:t>
            </a:r>
            <a:r>
              <a:rPr lang="en-US" altLang="zh-TW" dirty="0"/>
              <a:t> activate tf2.6</a:t>
            </a:r>
          </a:p>
          <a:p>
            <a:endParaRPr lang="en-US" altLang="zh-TW" dirty="0"/>
          </a:p>
          <a:p>
            <a:r>
              <a:rPr lang="en-US" altLang="zh-TW" dirty="0"/>
              <a:t>(tf2.6) python test.py</a:t>
            </a:r>
          </a:p>
          <a:p>
            <a:pPr lvl="1"/>
            <a:r>
              <a:rPr lang="en-US" altLang="zh-TW" dirty="0"/>
              <a:t>This script compares similarity of 2 input images</a:t>
            </a:r>
          </a:p>
          <a:p>
            <a:pPr lvl="2"/>
            <a:r>
              <a:rPr lang="en-US" altLang="zh-TW" dirty="0"/>
              <a:t>Extract feature by model (</a:t>
            </a:r>
            <a:r>
              <a:rPr lang="en-US" altLang="zh-TW" dirty="0" err="1"/>
              <a:t>feature_extraction</a:t>
            </a:r>
            <a:r>
              <a:rPr lang="en-US" altLang="zh-TW" dirty="0"/>
              <a:t>())</a:t>
            </a:r>
          </a:p>
          <a:p>
            <a:pPr lvl="2"/>
            <a:r>
              <a:rPr lang="en-US" altLang="zh-TW" dirty="0"/>
              <a:t>Compute cosine similarity (</a:t>
            </a:r>
            <a:r>
              <a:rPr lang="en-US" altLang="zh-TW" dirty="0" err="1"/>
              <a:t>CosSim</a:t>
            </a:r>
            <a:r>
              <a:rPr lang="en-US" altLang="zh-TW" dirty="0"/>
              <a:t>())</a:t>
            </a:r>
          </a:p>
          <a:p>
            <a:pPr lvl="1"/>
            <a:r>
              <a:rPr lang="en-US" altLang="zh-TW" dirty="0"/>
              <a:t>Higher means similar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798DD3-76EB-35D0-FE69-C23441C182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B18A12-519B-49DA-9632-7336727FEAA0}" type="slidenum">
              <a:rPr lang="en-US" altLang="zh-TW" smtClean="0"/>
              <a:pPr/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63783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105B9C-DC92-E570-7F06-261DDF40C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Step8: vela compression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43A46E-EAB4-02D5-4F07-DA8759EC7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350" y="1268437"/>
            <a:ext cx="8441299" cy="5008562"/>
          </a:xfrm>
        </p:spPr>
        <p:txBody>
          <a:bodyPr/>
          <a:lstStyle/>
          <a:p>
            <a:r>
              <a:rPr lang="en-US" altLang="zh-TW" dirty="0"/>
              <a:t>Copy the </a:t>
            </a:r>
            <a:r>
              <a:rPr lang="en-US" altLang="zh-TW" dirty="0" err="1"/>
              <a:t>tflite</a:t>
            </a:r>
            <a:r>
              <a:rPr lang="en-US" altLang="zh-TW" dirty="0"/>
              <a:t> file under folder “vela”</a:t>
            </a:r>
          </a:p>
          <a:p>
            <a:r>
              <a:rPr lang="en-US" altLang="zh-TW" dirty="0"/>
              <a:t>Change working directory to “vela”</a:t>
            </a:r>
          </a:p>
          <a:p>
            <a:r>
              <a:rPr lang="en-US" altLang="zh-TW" dirty="0"/>
              <a:t>Switch python environment to vela</a:t>
            </a:r>
          </a:p>
          <a:p>
            <a:pPr lvl="1"/>
            <a:r>
              <a:rPr lang="en-US" altLang="zh-TW" dirty="0" err="1"/>
              <a:t>conda</a:t>
            </a:r>
            <a:r>
              <a:rPr lang="en-US" altLang="zh-TW" dirty="0"/>
              <a:t> activate vela</a:t>
            </a:r>
          </a:p>
          <a:p>
            <a:r>
              <a:rPr lang="en-US" altLang="zh-TW" dirty="0"/>
              <a:t>Follow the command instructions in command_example.txt</a:t>
            </a:r>
          </a:p>
          <a:p>
            <a:pPr lvl="1"/>
            <a:r>
              <a:rPr lang="en-US" altLang="zh-TW" dirty="0"/>
              <a:t>Three mode</a:t>
            </a:r>
          </a:p>
          <a:p>
            <a:pPr lvl="2"/>
            <a:r>
              <a:rPr lang="en-US" altLang="zh-TW" sz="1400" dirty="0">
                <a:solidFill>
                  <a:schemeClr val="accent4"/>
                </a:solidFill>
              </a:rPr>
              <a:t>--</a:t>
            </a:r>
            <a:r>
              <a:rPr lang="en-US" altLang="zh-TW" sz="1400" dirty="0" err="1">
                <a:solidFill>
                  <a:schemeClr val="accent4"/>
                </a:solidFill>
              </a:rPr>
              <a:t>optimise</a:t>
            </a:r>
            <a:r>
              <a:rPr lang="en-US" altLang="zh-TW" sz="1400" dirty="0">
                <a:solidFill>
                  <a:schemeClr val="accent4"/>
                </a:solidFill>
              </a:rPr>
              <a:t> Performance</a:t>
            </a:r>
          </a:p>
          <a:p>
            <a:pPr lvl="2"/>
            <a:r>
              <a:rPr lang="en-US" altLang="zh-TW" sz="1400" dirty="0"/>
              <a:t>--</a:t>
            </a:r>
            <a:r>
              <a:rPr lang="en-US" altLang="zh-TW" sz="1400" dirty="0" err="1"/>
              <a:t>optimise</a:t>
            </a:r>
            <a:r>
              <a:rPr lang="en-US" altLang="zh-TW" sz="1400" dirty="0"/>
              <a:t> Size</a:t>
            </a:r>
          </a:p>
          <a:p>
            <a:pPr lvl="2"/>
            <a:r>
              <a:rPr lang="en-US" altLang="zh-TW" sz="1400" dirty="0">
                <a:solidFill>
                  <a:schemeClr val="accent4"/>
                </a:solidFill>
              </a:rPr>
              <a:t>--</a:t>
            </a:r>
            <a:r>
              <a:rPr lang="en-US" altLang="zh-TW" sz="1400" dirty="0" err="1">
                <a:solidFill>
                  <a:schemeClr val="accent4"/>
                </a:solidFill>
              </a:rPr>
              <a:t>optimise</a:t>
            </a:r>
            <a:r>
              <a:rPr lang="en-US" altLang="zh-TW" sz="1400" dirty="0">
                <a:solidFill>
                  <a:schemeClr val="accent4"/>
                </a:solidFill>
              </a:rPr>
              <a:t> Performance --arena-cache-size </a:t>
            </a:r>
            <a:r>
              <a:rPr lang="en-US" altLang="zh-TW" sz="1400" dirty="0" err="1">
                <a:solidFill>
                  <a:schemeClr val="accent4"/>
                </a:solidFill>
              </a:rPr>
              <a:t>xxxx</a:t>
            </a:r>
            <a:endParaRPr lang="en-US" altLang="zh-TW" sz="1400" dirty="0">
              <a:solidFill>
                <a:schemeClr val="accent4"/>
              </a:solidFill>
            </a:endParaRPr>
          </a:p>
          <a:p>
            <a:r>
              <a:rPr lang="en-US" altLang="zh-TW" sz="1800" dirty="0">
                <a:solidFill>
                  <a:schemeClr val="accent4"/>
                </a:solidFill>
              </a:rPr>
              <a:t>Run --</a:t>
            </a:r>
            <a:r>
              <a:rPr lang="en-US" altLang="zh-TW" sz="1800" dirty="0" err="1">
                <a:solidFill>
                  <a:schemeClr val="accent4"/>
                </a:solidFill>
              </a:rPr>
              <a:t>optimise</a:t>
            </a:r>
            <a:r>
              <a:rPr lang="en-US" altLang="zh-TW" sz="1800" dirty="0">
                <a:solidFill>
                  <a:schemeClr val="accent4"/>
                </a:solidFill>
              </a:rPr>
              <a:t> Performance and </a:t>
            </a:r>
            <a:r>
              <a:rPr lang="en-US" altLang="zh-TW" sz="1800" dirty="0"/>
              <a:t>--</a:t>
            </a:r>
            <a:r>
              <a:rPr lang="en-US" altLang="zh-TW" sz="1800" dirty="0" err="1"/>
              <a:t>optimise</a:t>
            </a:r>
            <a:r>
              <a:rPr lang="en-US" altLang="zh-TW" sz="1800" dirty="0"/>
              <a:t> Size to see the best run time and best size after compression</a:t>
            </a:r>
          </a:p>
          <a:p>
            <a:r>
              <a:rPr lang="en-US" altLang="zh-TW" sz="1800" dirty="0"/>
              <a:t>Check the “Total SRAM used” in the vela report of optimizing size (log_size.txt)</a:t>
            </a:r>
          </a:p>
          <a:p>
            <a:r>
              <a:rPr lang="en-US" altLang="zh-TW" sz="1800" dirty="0"/>
              <a:t>Gradually increase the SRAM size, and run </a:t>
            </a:r>
            <a:r>
              <a:rPr lang="en-US" altLang="zh-TW" sz="1800" dirty="0">
                <a:solidFill>
                  <a:schemeClr val="accent4"/>
                </a:solidFill>
              </a:rPr>
              <a:t>--</a:t>
            </a:r>
            <a:r>
              <a:rPr lang="en-US" altLang="zh-TW" sz="1800" dirty="0" err="1">
                <a:solidFill>
                  <a:schemeClr val="accent4"/>
                </a:solidFill>
              </a:rPr>
              <a:t>optimise</a:t>
            </a:r>
            <a:r>
              <a:rPr lang="en-US" altLang="zh-TW" sz="1800" dirty="0">
                <a:solidFill>
                  <a:schemeClr val="accent4"/>
                </a:solidFill>
              </a:rPr>
              <a:t> Performance --arena-cache-size </a:t>
            </a:r>
            <a:r>
              <a:rPr lang="en-US" altLang="zh-TW" sz="1800" dirty="0" err="1">
                <a:solidFill>
                  <a:schemeClr val="accent4"/>
                </a:solidFill>
              </a:rPr>
              <a:t>xxxx</a:t>
            </a:r>
            <a:r>
              <a:rPr lang="en-US" altLang="zh-TW" sz="1800" dirty="0">
                <a:solidFill>
                  <a:schemeClr val="accent4"/>
                </a:solidFill>
              </a:rPr>
              <a:t>, check the “Batch Inference time” to seek a good balance between run time and model size</a:t>
            </a:r>
            <a:endParaRPr lang="en-US" altLang="zh-TW" sz="1600" dirty="0"/>
          </a:p>
          <a:p>
            <a:pPr lvl="1"/>
            <a:endParaRPr lang="en-US" altLang="zh-TW" sz="1600" dirty="0">
              <a:solidFill>
                <a:schemeClr val="accent4"/>
              </a:solidFill>
            </a:endParaRPr>
          </a:p>
          <a:p>
            <a:pPr lvl="1"/>
            <a:endParaRPr lang="en-US" altLang="zh-TW" sz="1600" dirty="0">
              <a:solidFill>
                <a:schemeClr val="accent4"/>
              </a:solidFill>
            </a:endParaRPr>
          </a:p>
          <a:p>
            <a:pPr lvl="2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52D697-CD2E-7A5B-6CB0-5D4A3BF6CA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B18A12-519B-49DA-9632-7336727FEAA0}" type="slidenum">
              <a:rPr lang="en-US" altLang="zh-TW" smtClean="0"/>
              <a:pPr/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38098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Our Internal Test Result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C1EFBC-26DD-498E-A233-67603FB6421C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6B5AC8F5-7390-4D1C-BD98-C1E17D9FF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667868"/>
              </p:ext>
            </p:extLst>
          </p:nvPr>
        </p:nvGraphicFramePr>
        <p:xfrm>
          <a:off x="225082" y="1503680"/>
          <a:ext cx="8693835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2449">
                  <a:extLst>
                    <a:ext uri="{9D8B030D-6E8A-4147-A177-3AD203B41FA5}">
                      <a16:colId xmlns:a16="http://schemas.microsoft.com/office/drawing/2014/main" val="2421223859"/>
                    </a:ext>
                  </a:extLst>
                </a:gridCol>
                <a:gridCol w="3483796">
                  <a:extLst>
                    <a:ext uri="{9D8B030D-6E8A-4147-A177-3AD203B41FA5}">
                      <a16:colId xmlns:a16="http://schemas.microsoft.com/office/drawing/2014/main" val="1655887115"/>
                    </a:ext>
                  </a:extLst>
                </a:gridCol>
                <a:gridCol w="2557590">
                  <a:extLst>
                    <a:ext uri="{9D8B030D-6E8A-4147-A177-3AD203B41FA5}">
                      <a16:colId xmlns:a16="http://schemas.microsoft.com/office/drawing/2014/main" val="41217232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Masked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TAR @ FAR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Threshold 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241326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accent4"/>
                          </a:solidFill>
                        </a:rPr>
                        <a:t>Reg: No mask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accent4"/>
                          </a:solidFill>
                        </a:rPr>
                        <a:t>Query: No mask</a:t>
                      </a:r>
                      <a:endParaRPr lang="pt-BR" altLang="zh-TW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0.99556 @ 0.05029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accent4"/>
                          </a:solidFill>
                        </a:rPr>
                        <a:t>0.581</a:t>
                      </a:r>
                      <a:endParaRPr lang="zh-TW" altLang="en-US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675611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0.99048 @ 0.01018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accent4"/>
                          </a:solidFill>
                        </a:rPr>
                        <a:t>0.612</a:t>
                      </a:r>
                      <a:endParaRPr lang="zh-TW" altLang="en-US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441113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0.97906 @ 0.00127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accent4"/>
                          </a:solidFill>
                        </a:rPr>
                        <a:t>0.640</a:t>
                      </a:r>
                      <a:endParaRPr lang="zh-TW" altLang="en-US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99591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accent4"/>
                          </a:solidFill>
                        </a:rPr>
                        <a:t>Reg: Mask*1 No mask*1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accent4"/>
                          </a:solidFill>
                        </a:rPr>
                        <a:t>Query: Mask*1 No mask*1</a:t>
                      </a:r>
                      <a:endParaRPr lang="pt-BR" altLang="zh-TW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0.93592 @ 0.04934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accent4"/>
                          </a:solidFill>
                        </a:rPr>
                        <a:t>0.570</a:t>
                      </a:r>
                      <a:endParaRPr lang="zh-TW" altLang="en-US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0858739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0.90544 @ 0.01017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accent4"/>
                          </a:solidFill>
                        </a:rPr>
                        <a:t>0.604</a:t>
                      </a:r>
                      <a:endParaRPr lang="zh-TW" altLang="en-US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18626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rgbClr val="FF0000"/>
                          </a:solidFill>
                        </a:rPr>
                        <a:t>0.85491 @ 0.00124</a:t>
                      </a: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accent4"/>
                          </a:solidFill>
                        </a:rPr>
                        <a:t>0.639</a:t>
                      </a:r>
                      <a:endParaRPr lang="zh-TW" altLang="en-US" sz="1600" dirty="0">
                        <a:solidFill>
                          <a:schemeClr val="accent4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7585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483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4706" name="Picture 2" descr="master93">
            <a:extLst>
              <a:ext uri="{FF2B5EF4-FFF2-40B4-BE49-F238E27FC236}">
                <a16:creationId xmlns:a16="http://schemas.microsoft.com/office/drawing/2014/main" id="{963D452E-8BAF-401E-8E91-B7A6B4198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8" y="2436813"/>
            <a:ext cx="3835400" cy="121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44707" name="Text Box 3">
            <a:extLst>
              <a:ext uri="{FF2B5EF4-FFF2-40B4-BE49-F238E27FC236}">
                <a16:creationId xmlns:a16="http://schemas.microsoft.com/office/drawing/2014/main" id="{8D282FFB-2A69-4390-B32B-169978A0E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3727450"/>
            <a:ext cx="558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33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b="0">
                <a:cs typeface="Arial" panose="020B0604020202020204" pitchFamily="34" charset="0"/>
              </a:rPr>
              <a:t>Drive for better vision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CATEGORY" val="Primary Field Layouts"/>
  <p:tag name="LAYOUTDISPLAYNAME" val="Two Columns"/>
  <p:tag name="ALLOWMORETHANONE" val="Yes"/>
  <p:tag name="ALLOWINCLUDEINTOC" val="Yes"/>
  <p:tag name="PAGETYPE" val="BodyPage"/>
  <p:tag name="LAYOUTNAME" val="Two Columns"/>
  <p:tag name="ALLOWPAGETITLE" val="Yes"/>
  <p:tag name="ALLOWPAGESUBTITLE" val="Yes"/>
</p:tagLst>
</file>

<file path=ppt/theme/theme1.xml><?xml version="1.0" encoding="utf-8"?>
<a:theme xmlns:a="http://schemas.openxmlformats.org/drawingml/2006/main" name="~1086908">
  <a:themeElements>
    <a:clrScheme name="">
      <a:dk1>
        <a:srgbClr val="003366"/>
      </a:dk1>
      <a:lt1>
        <a:srgbClr val="FFFFF0"/>
      </a:lt1>
      <a:dk2>
        <a:srgbClr val="C4D7EC"/>
      </a:dk2>
      <a:lt2>
        <a:srgbClr val="B6B468"/>
      </a:lt2>
      <a:accent1>
        <a:srgbClr val="1B65B7"/>
      </a:accent1>
      <a:accent2>
        <a:srgbClr val="F5C30B"/>
      </a:accent2>
      <a:accent3>
        <a:srgbClr val="FFFFF6"/>
      </a:accent3>
      <a:accent4>
        <a:srgbClr val="002A56"/>
      </a:accent4>
      <a:accent5>
        <a:srgbClr val="ABB8D8"/>
      </a:accent5>
      <a:accent6>
        <a:srgbClr val="DEB009"/>
      </a:accent6>
      <a:hlink>
        <a:srgbClr val="37994E"/>
      </a:hlink>
      <a:folHlink>
        <a:srgbClr val="E50919"/>
      </a:folHlink>
    </a:clrScheme>
    <a:fontScheme name="~1086908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rgbClr val="003366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Arial Unicode MS" pitchFamily="34" charset="-12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rgbClr val="003366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Arial Unicode MS" pitchFamily="34" charset="-120"/>
            <a:cs typeface="Arial" panose="020B0604020202020204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 algn="l">
          <a:defRPr sz="800" dirty="0" smtClean="0">
            <a:solidFill>
              <a:srgbClr val="FF0000"/>
            </a:solidFill>
          </a:defRPr>
        </a:defPPr>
      </a:lstStyle>
    </a:txDef>
  </a:objectDefaults>
  <a:extraClrSchemeLst>
    <a:extraClrScheme>
      <a:clrScheme name="~1086908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1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79A9B9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ED1D9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2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ACD7E4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D2E8EF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3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5DB1CB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6D5E2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4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5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6">
        <a:dk1>
          <a:srgbClr val="003366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2A56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 Template-Himax.ppt  -  相容模式" id="{1555436B-C3F6-4C4F-B255-A571EB77BB1C}" vid="{91F9AFDC-F424-454B-9E2A-F220E7A76029}"/>
    </a:ext>
  </a:extLst>
</a:theme>
</file>

<file path=ppt/theme/theme2.xml><?xml version="1.0" encoding="utf-8"?>
<a:theme xmlns:a="http://schemas.openxmlformats.org/drawingml/2006/main" name="2_Layers">
  <a:themeElements>
    <a:clrScheme name="">
      <a:dk1>
        <a:srgbClr val="003366"/>
      </a:dk1>
      <a:lt1>
        <a:srgbClr val="FFFFF0"/>
      </a:lt1>
      <a:dk2>
        <a:srgbClr val="C4D7EC"/>
      </a:dk2>
      <a:lt2>
        <a:srgbClr val="B6B468"/>
      </a:lt2>
      <a:accent1>
        <a:srgbClr val="1B65B7"/>
      </a:accent1>
      <a:accent2>
        <a:srgbClr val="F5C30B"/>
      </a:accent2>
      <a:accent3>
        <a:srgbClr val="FFFFF6"/>
      </a:accent3>
      <a:accent4>
        <a:srgbClr val="002A56"/>
      </a:accent4>
      <a:accent5>
        <a:srgbClr val="ABB8D8"/>
      </a:accent5>
      <a:accent6>
        <a:srgbClr val="DEB009"/>
      </a:accent6>
      <a:hlink>
        <a:srgbClr val="37994E"/>
      </a:hlink>
      <a:folHlink>
        <a:srgbClr val="E50919"/>
      </a:folHlink>
    </a:clrScheme>
    <a:fontScheme name="2_Layers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rgbClr val="003366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Arial Unicode MS" pitchFamily="34" charset="-12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rgbClr val="003366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Arial Unicode MS" pitchFamily="34" charset="-120"/>
            <a:cs typeface="Arial" panose="020B0604020202020204" pitchFamily="34" charset="0"/>
          </a:defRPr>
        </a:defPPr>
      </a:lstStyle>
    </a:lnDef>
  </a:objectDefaults>
  <a:extraClrSchemeLst>
    <a:extraClrScheme>
      <a:clrScheme name="2_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11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79A9B9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ED1D9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12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ACD7E4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D2E8EF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13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5DB1CB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6D5E2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14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15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ayers 16">
        <a:dk1>
          <a:srgbClr val="003366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2A56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 Template-Himax.ppt  -  相容模式" id="{1555436B-C3F6-4C4F-B255-A571EB77BB1C}" vid="{7B97FBAB-0B6B-4D34-B5B3-48E4DB37452B}"/>
    </a:ext>
  </a:extLst>
</a:theme>
</file>

<file path=ppt/theme/theme3.xml><?xml version="1.0" encoding="utf-8"?>
<a:theme xmlns:a="http://schemas.openxmlformats.org/drawingml/2006/main" name="佈景主題Himax">
  <a:themeElements>
    <a:clrScheme name="">
      <a:dk1>
        <a:srgbClr val="003366"/>
      </a:dk1>
      <a:lt1>
        <a:srgbClr val="FFFFF0"/>
      </a:lt1>
      <a:dk2>
        <a:srgbClr val="C4D7EC"/>
      </a:dk2>
      <a:lt2>
        <a:srgbClr val="B6B468"/>
      </a:lt2>
      <a:accent1>
        <a:srgbClr val="1B65B7"/>
      </a:accent1>
      <a:accent2>
        <a:srgbClr val="F5C30B"/>
      </a:accent2>
      <a:accent3>
        <a:srgbClr val="FFFFF6"/>
      </a:accent3>
      <a:accent4>
        <a:srgbClr val="002A56"/>
      </a:accent4>
      <a:accent5>
        <a:srgbClr val="ABB8D8"/>
      </a:accent5>
      <a:accent6>
        <a:srgbClr val="DEB009"/>
      </a:accent6>
      <a:hlink>
        <a:srgbClr val="37994E"/>
      </a:hlink>
      <a:folHlink>
        <a:srgbClr val="E50919"/>
      </a:folHlink>
    </a:clrScheme>
    <a:fontScheme name="4-3001-01-ver02-Himax Presentation Template 20070226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rgbClr val="003366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Arial Unicode MS" pitchFamily="34" charset="-12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rgbClr val="003366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Arial Unicode MS" pitchFamily="34" charset="-120"/>
            <a:cs typeface="Arial" charset="0"/>
          </a:defRPr>
        </a:defPPr>
      </a:lstStyle>
    </a:lnDef>
  </a:objectDefaults>
  <a:extraClrSchemeLst>
    <a:extraClrScheme>
      <a:clrScheme name="4-3001-01-ver02-Himax Presentation Template 20070226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-3001-01-ver02-Himax Presentation Template 20070226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-3001-01-ver02-Himax Presentation Template 20070226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-3001-01-ver02-Himax Presentation Template 20070226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-3001-01-ver02-Himax Presentation Template 20070226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-3001-01-ver02-Himax Presentation Template 20070226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-3001-01-ver02-Himax Presentation Template 20070226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-3001-01-ver02-Himax Presentation Template 20070226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-3001-01-ver02-Himax Presentation Template 20070226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-3001-01-ver02-Himax Presentation Template 20070226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-3001-01-ver02-Himax Presentation Template 20070226 11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79A9B9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ED1D9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-3001-01-ver02-Himax Presentation Template 20070226 12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ACD7E4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D2E8EF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-3001-01-ver02-Himax Presentation Template 20070226 13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5DB1CB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6D5E2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-3001-01-ver02-Himax Presentation Template 20070226 14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-3001-01-ver02-Himax Presentation Template 20070226 15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-3001-01-ver02-Himax Presentation Template 20070226 16">
        <a:dk1>
          <a:srgbClr val="003366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2A56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1516631</TotalTime>
  <Words>820</Words>
  <Application>Microsoft Office PowerPoint</Application>
  <PresentationFormat>如螢幕大小 (4:3)</PresentationFormat>
  <Paragraphs>137</Paragraphs>
  <Slides>14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14</vt:i4>
      </vt:variant>
    </vt:vector>
  </HeadingPairs>
  <TitlesOfParts>
    <vt:vector size="24" baseType="lpstr">
      <vt:lpstr>Arial Unicode MS</vt:lpstr>
      <vt:lpstr>宋体</vt:lpstr>
      <vt:lpstr>華康中黑體(P)-UN</vt:lpstr>
      <vt:lpstr>Arial</vt:lpstr>
      <vt:lpstr>Tahoma</vt:lpstr>
      <vt:lpstr>Times New Roman</vt:lpstr>
      <vt:lpstr>Wingdings</vt:lpstr>
      <vt:lpstr>~1086908</vt:lpstr>
      <vt:lpstr>2_Layers</vt:lpstr>
      <vt:lpstr>佈景主題Himax</vt:lpstr>
      <vt:lpstr>PowerPoint 簡報</vt:lpstr>
      <vt:lpstr>Reference</vt:lpstr>
      <vt:lpstr>Step1: Build Python Environment</vt:lpstr>
      <vt:lpstr>Quick Try Run of a Toy Example</vt:lpstr>
      <vt:lpstr>Step2: Prepare Images and label file</vt:lpstr>
      <vt:lpstr>Step3: Prepare tfrecord</vt:lpstr>
      <vt:lpstr>Step4: training</vt:lpstr>
      <vt:lpstr>Suggested config</vt:lpstr>
      <vt:lpstr>Step5: freeze weight</vt:lpstr>
      <vt:lpstr>Step6: Tflite convert</vt:lpstr>
      <vt:lpstr>Step7: inference</vt:lpstr>
      <vt:lpstr>Step8: vela compression</vt:lpstr>
      <vt:lpstr>Our Internal Test Result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DZ Kuo(郭達人)</dc:creator>
  <cp:lastModifiedBy>Lionel Huang(黃崇堯)</cp:lastModifiedBy>
  <cp:revision>2818</cp:revision>
  <dcterms:created xsi:type="dcterms:W3CDTF">2021-11-10T02:32:18Z</dcterms:created>
  <dcterms:modified xsi:type="dcterms:W3CDTF">2025-12-02T03:07:39Z</dcterms:modified>
</cp:coreProperties>
</file>